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8" r:id="rId3"/>
    <p:sldId id="265" r:id="rId4"/>
    <p:sldId id="261" r:id="rId5"/>
    <p:sldId id="266" r:id="rId6"/>
    <p:sldId id="273" r:id="rId7"/>
    <p:sldId id="272" r:id="rId8"/>
    <p:sldId id="260" r:id="rId9"/>
    <p:sldId id="264" r:id="rId10"/>
    <p:sldId id="267" r:id="rId11"/>
    <p:sldId id="274" r:id="rId12"/>
  </p:sldIdLst>
  <p:sldSz cx="9144000" cy="5143500" type="screen16x9"/>
  <p:notesSz cx="6858000" cy="9144000"/>
  <p:embeddedFontLst>
    <p:embeddedFont>
      <p:font typeface="Bebas Neue" panose="020B0606020202050201" pitchFamily="34" charset="0"/>
      <p:regular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lack" panose="00000A00000000000000" pitchFamily="2" charset="0"/>
      <p:bold r:id="rId19"/>
      <p:boldItalic r:id="rId20"/>
    </p:embeddedFont>
    <p:embeddedFont>
      <p:font typeface="Montserrat Medium" panose="00000600000000000000" pitchFamily="2" charset="0"/>
      <p:regular r:id="rId21"/>
      <p:bold r:id="rId22"/>
      <p:italic r:id="rId23"/>
      <p:boldItalic r:id="rId24"/>
    </p:embeddedFont>
    <p:embeddedFont>
      <p:font typeface="Nunito Light" pitchFamily="2" charset="0"/>
      <p:regular r:id="rId25"/>
      <p: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68EA"/>
    <a:srgbClr val="4B2682"/>
    <a:srgbClr val="8959CF"/>
    <a:srgbClr val="DDB5F5"/>
    <a:srgbClr val="9B32E2"/>
    <a:srgbClr val="B465E9"/>
    <a:srgbClr val="27173A"/>
    <a:srgbClr val="CC98F0"/>
    <a:srgbClr val="7B60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DACBFB-2300-4488-B464-44D6CCA20A45}">
  <a:tblStyle styleId="{4CDACBFB-2300-4488-B464-44D6CCA20A4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250D51A-3698-4FF4-A1BA-8D66CF79435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39" autoAdjust="0"/>
    <p:restoredTop sz="94170" autoAdjust="0"/>
  </p:normalViewPr>
  <p:slideViewPr>
    <p:cSldViewPr snapToGrid="0">
      <p:cViewPr varScale="1">
        <p:scale>
          <a:sx n="74" d="100"/>
          <a:sy n="74" d="100"/>
        </p:scale>
        <p:origin x="62" y="59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_Worksheet.xlsx"/></Relationships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Foaie1!$A$2:$A$5</cx:f>
        <cx:lvl ptCount="4">
          <cx:pt idx="0">2026</cx:pt>
          <cx:pt idx="1">2027</cx:pt>
          <cx:pt idx="2">2028</cx:pt>
        </cx:lvl>
      </cx:strDim>
      <cx:numDim type="val">
        <cx:f>Foaie1!$B$2:$B$5</cx:f>
        <cx:lvl ptCount="4" formatCode="#,##0">
          <cx:pt idx="0">30000</cx:pt>
          <cx:pt idx="1">50000</cx:pt>
          <cx:pt idx="2">90000</cx:pt>
        </cx:lvl>
      </cx:numDim>
    </cx:data>
    <cx:data id="1">
      <cx:strDim type="cat">
        <cx:f>Foaie1!$A$2:$A$5</cx:f>
        <cx:lvl ptCount="4">
          <cx:pt idx="0">2026</cx:pt>
          <cx:pt idx="1">2027</cx:pt>
          <cx:pt idx="2">2028</cx:pt>
        </cx:lvl>
      </cx:strDim>
      <cx:numDim type="val">
        <cx:f>Foaie1!$C$2:$C$5</cx:f>
        <cx:lvl ptCount="4" formatCode="General">
          <cx:pt idx="0">2.3999999999999999</cx:pt>
          <cx:pt idx="1">4.4000000000000004</cx:pt>
          <cx:pt idx="2">1.8</cx:pt>
        </cx:lvl>
      </cx:numDim>
    </cx:data>
    <cx:data id="2">
      <cx:strDim type="cat">
        <cx:f>Foaie1!$A$2:$A$5</cx:f>
        <cx:lvl ptCount="4">
          <cx:pt idx="0">2026</cx:pt>
          <cx:pt idx="1">2027</cx:pt>
          <cx:pt idx="2">2028</cx:pt>
        </cx:lvl>
      </cx:strDim>
      <cx:numDim type="val">
        <cx:f>Foaie1!$D$2:$D$5</cx:f>
        <cx:lvl ptCount="4" formatCode="General">
          <cx:pt idx="0">2</cx:pt>
          <cx:pt idx="1">2</cx:pt>
          <cx:pt idx="2">3</cx:pt>
        </cx:lvl>
      </cx:numDim>
    </cx:data>
  </cx:chartData>
  <cx:chart>
    <cx:plotArea>
      <cx:plotAreaRegion>
        <cx:series layoutId="waterfall" uniqueId="{B743B99A-A803-4BA9-A604-8C8EFBFB6907}" formatIdx="0">
          <cx:tx>
            <cx:txData>
              <cx:f>Foaie1!$B$1</cx:f>
              <cx:v>Coloană1</cx:v>
            </cx:txData>
          </cx:tx>
          <cx:dataLabels pos="outEnd">
            <cx:visibility seriesName="0" categoryName="0" value="1"/>
          </cx:dataLabels>
          <cx:dataId val="0"/>
          <cx:layoutPr>
            <cx:visibility connectorLines="0"/>
            <cx:subtotals/>
          </cx:layoutPr>
        </cx:series>
        <cx:series layoutId="waterfall" hidden="1" uniqueId="{D6817ED6-0525-4C86-8412-312A40E5F67F}" formatIdx="1">
          <cx:tx>
            <cx:txData>
              <cx:f>Foaie1!$C$1</cx:f>
              <cx:v>Coloană2</cx:v>
            </cx:txData>
          </cx:tx>
          <cx:dataLabels pos="outEnd">
            <cx:visibility seriesName="0" categoryName="0" value="1"/>
          </cx:dataLabels>
          <cx:dataId val="1"/>
          <cx:layoutPr>
            <cx:visibility connectorLines="0"/>
            <cx:subtotals/>
          </cx:layoutPr>
        </cx:series>
        <cx:series layoutId="waterfall" hidden="1" uniqueId="{B624FDD5-452E-4B5B-B1BA-A49EE2EF344F}" formatIdx="2">
          <cx:tx>
            <cx:txData>
              <cx:f>Foaie1!$D$1</cx:f>
              <cx:v>Coloană3</cx:v>
            </cx:txData>
          </cx:tx>
          <cx:dataLabels pos="outEnd">
            <cx:visibility seriesName="0" categoryName="0" value="1"/>
          </cx:dataLabels>
          <cx:dataId val="2"/>
          <cx:layoutPr>
            <cx:visibility connectorLines="0"/>
            <cx:subtotals/>
          </cx:layoutPr>
        </cx:series>
      </cx:plotAreaRegion>
      <cx:axis id="0">
        <cx:catScaling gapWidth="0.200000003"/>
        <cx:title>
          <cx:tx>
            <cx:txData>
              <cx:v/>
            </cx:txData>
          </cx:tx>
          <cx:txPr>
            <a:bodyPr spcFirstLastPara="1" vertOverflow="ellipsis" horzOverflow="overflow" wrap="square" lIns="0" tIns="0" rIns="0" bIns="0" anchor="ctr" anchorCtr="1"/>
            <a:lstStyle/>
            <a:p>
              <a:pPr algn="ctr" rtl="0">
                <a:defRPr/>
              </a:pPr>
              <a:endParaRPr lang="ro-RO" sz="1330" b="0" i="0" u="none" strike="noStrike" kern="1200" baseline="0" dirty="0">
                <a:solidFill>
                  <a:srgbClr val="FFFFFF">
                    <a:lumMod val="65000"/>
                    <a:lumOff val="35000"/>
                  </a:srgbClr>
                </a:solidFill>
                <a:latin typeface="Arial"/>
              </a:endParaRPr>
            </a:p>
          </cx:txPr>
        </cx:title>
        <cx:tickLabels/>
      </cx:axis>
      <cx:axis id="1">
        <cx:valScaling/>
        <cx:title>
          <cx:tx>
            <cx:rich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/>
                </a:pPr>
                <a:r>
                  <a:rPr lang="en-US" sz="1330" b="0" i="0" u="none" strike="noStrike" kern="1200" baseline="0" dirty="0" err="1">
                    <a:solidFill>
                      <a:srgbClr val="FFFFFF">
                        <a:lumMod val="65000"/>
                        <a:lumOff val="35000"/>
                      </a:srgbClr>
                    </a:solidFill>
                    <a:latin typeface="Arial"/>
                  </a:rPr>
                  <a:t>Evolutie</a:t>
                </a:r>
                <a:r>
                  <a:rPr lang="en-US" sz="1330" b="0" i="0" u="none" strike="noStrike" kern="1200" baseline="0" dirty="0">
                    <a:solidFill>
                      <a:srgbClr val="FFFFFF">
                        <a:lumMod val="65000"/>
                        <a:lumOff val="35000"/>
                      </a:srgbClr>
                    </a:solidFill>
                    <a:latin typeface="Arial"/>
                  </a:rPr>
                  <a:t> </a:t>
                </a:r>
                <a:r>
                  <a:rPr lang="en-US" sz="1330" b="0" i="0" u="none" strike="noStrike" kern="1200" baseline="0" dirty="0" err="1">
                    <a:solidFill>
                      <a:srgbClr val="FFFFFF">
                        <a:lumMod val="65000"/>
                        <a:lumOff val="35000"/>
                      </a:srgbClr>
                    </a:solidFill>
                    <a:latin typeface="Arial"/>
                  </a:rPr>
                  <a:t>venituri</a:t>
                </a:r>
                <a:endParaRPr lang="ro-RO" sz="1330" b="0" i="0" u="none" strike="noStrike" kern="1200" baseline="0" dirty="0">
                  <a:solidFill>
                    <a:srgbClr val="FFFFFF">
                      <a:lumMod val="65000"/>
                      <a:lumOff val="35000"/>
                    </a:srgbClr>
                  </a:solidFill>
                  <a:latin typeface="Arial"/>
                </a:endParaRPr>
              </a:p>
            </cx:rich>
          </cx:tx>
        </cx:title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6e698cb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3" name="Google Shape;553;g256e698cb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579b1836b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4" name="Google Shape;744;g2579b1836ba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256e698cb0c_0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256e698cb0c_0_1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579b1836ba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579b1836ba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g25bf42adc29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7" name="Google Shape;987;g25bf42adc29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1e484a181ec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1e484a181ec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256e698cb0c_0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5" name="Google Shape;595;g256e698cb0c_0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257312613cb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257312613cb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579b1836ba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579b1836ba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 flipH="1">
            <a:off x="1055100" y="1256688"/>
            <a:ext cx="7033800" cy="219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 flipH="1">
            <a:off x="2307600" y="3521113"/>
            <a:ext cx="45288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384238"/>
            <a:ext cx="73518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3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496250"/>
            <a:ext cx="13818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20000" y="3272250"/>
            <a:ext cx="50676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" name="Google Shape;15;p3"/>
          <p:cNvGrpSpPr/>
          <p:nvPr/>
        </p:nvGrpSpPr>
        <p:grpSpPr>
          <a:xfrm>
            <a:off x="5175689" y="2774776"/>
            <a:ext cx="5036265" cy="4113315"/>
            <a:chOff x="4780389" y="2513201"/>
            <a:chExt cx="5036265" cy="4113315"/>
          </a:xfrm>
        </p:grpSpPr>
        <p:grpSp>
          <p:nvGrpSpPr>
            <p:cNvPr id="16" name="Google Shape;16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7" name="Google Shape;17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" name="Google Shape;18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9" name="Google Shape;19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0" name="Google Shape;20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" name="Google Shape;21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2" name="Google Shape;22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" name="Google Shape;23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" name="Google Shape;24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" name="Google Shape;25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" name="Google Shape;26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" name="Google Shape;27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" name="Google Shape;28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" name="Google Shape;29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" name="Google Shape;30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" name="Google Shape;31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" name="Google Shape;32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3" name="Google Shape;33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" name="Google Shape;34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" name="Google Shape;35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" name="Google Shape;36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" name="Google Shape;37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" name="Google Shape;38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" name="Google Shape;39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" name="Google Shape;40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" name="Google Shape;41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2" name="Google Shape;42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3" name="Google Shape;43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4" name="Google Shape;44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" name="Google Shape;45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" name="Google Shape;46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" name="Google Shape;47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" name="Google Shape;48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" name="Google Shape;54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6" name="Google Shape;56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9" name="Google Shape;59;p3"/>
          <p:cNvGrpSpPr/>
          <p:nvPr/>
        </p:nvGrpSpPr>
        <p:grpSpPr>
          <a:xfrm>
            <a:off x="2951589" y="-2707787"/>
            <a:ext cx="5036265" cy="4113315"/>
            <a:chOff x="4780389" y="2513201"/>
            <a:chExt cx="5036265" cy="4113315"/>
          </a:xfrm>
        </p:grpSpPr>
        <p:grpSp>
          <p:nvGrpSpPr>
            <p:cNvPr id="60" name="Google Shape;60;p3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61" name="Google Shape;61;p3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2" name="Google Shape;62;p3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63" name="Google Shape;63;p3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64" name="Google Shape;64;p3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" name="Google Shape;65;p3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" name="Google Shape;66;p3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7" name="Google Shape;67;p3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8" name="Google Shape;68;p3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9" name="Google Shape;69;p3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0" name="Google Shape;70;p3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1" name="Google Shape;71;p3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2" name="Google Shape;72;p3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3" name="Google Shape;73;p3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4" name="Google Shape;74;p3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5" name="Google Shape;75;p3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6" name="Google Shape;76;p3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7" name="Google Shape;77;p3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8" name="Google Shape;78;p3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79" name="Google Shape;79;p3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0" name="Google Shape;80;p3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1" name="Google Shape;81;p3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2" name="Google Shape;82;p3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3" name="Google Shape;83;p3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4" name="Google Shape;84;p3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5" name="Google Shape;85;p3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6" name="Google Shape;86;p3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7" name="Google Shape;87;p3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8" name="Google Shape;88;p3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89" name="Google Shape;89;p3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0" name="Google Shape;90;p3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91" name="Google Shape;91;p3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92" name="Google Shape;92;p3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3" name="Google Shape;93;p3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4" name="Google Shape;94;p3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5" name="Google Shape;95;p3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3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7" name="Google Shape;97;p3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8" name="Google Shape;98;p3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9" name="Google Shape;99;p3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00" name="Google Shape;100;p3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3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3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"/>
          <p:cNvSpPr txBox="1">
            <a:spLocks noGrp="1"/>
          </p:cNvSpPr>
          <p:nvPr>
            <p:ph type="subTitle" idx="1"/>
          </p:nvPr>
        </p:nvSpPr>
        <p:spPr>
          <a:xfrm>
            <a:off x="5055188" y="3185018"/>
            <a:ext cx="2505600" cy="111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9" name="Google Shape;109;p5"/>
          <p:cNvSpPr txBox="1">
            <a:spLocks noGrp="1"/>
          </p:cNvSpPr>
          <p:nvPr>
            <p:ph type="subTitle" idx="2"/>
          </p:nvPr>
        </p:nvSpPr>
        <p:spPr>
          <a:xfrm>
            <a:off x="1583213" y="3184997"/>
            <a:ext cx="2505600" cy="111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subTitle" idx="3"/>
          </p:nvPr>
        </p:nvSpPr>
        <p:spPr>
          <a:xfrm>
            <a:off x="5055188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11" name="Google Shape;111;p5"/>
          <p:cNvSpPr txBox="1">
            <a:spLocks noGrp="1"/>
          </p:cNvSpPr>
          <p:nvPr>
            <p:ph type="subTitle" idx="4"/>
          </p:nvPr>
        </p:nvSpPr>
        <p:spPr>
          <a:xfrm>
            <a:off x="1583213" y="2727841"/>
            <a:ext cx="2505600" cy="45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1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grpSp>
        <p:nvGrpSpPr>
          <p:cNvPr id="112" name="Google Shape;112;p5"/>
          <p:cNvGrpSpPr/>
          <p:nvPr/>
        </p:nvGrpSpPr>
        <p:grpSpPr>
          <a:xfrm>
            <a:off x="7421542" y="-507956"/>
            <a:ext cx="2532725" cy="1881750"/>
            <a:chOff x="7221517" y="-507956"/>
            <a:chExt cx="2532725" cy="1881750"/>
          </a:xfrm>
        </p:grpSpPr>
        <p:sp>
          <p:nvSpPr>
            <p:cNvPr id="113" name="Google Shape;113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5"/>
          <p:cNvGrpSpPr/>
          <p:nvPr/>
        </p:nvGrpSpPr>
        <p:grpSpPr>
          <a:xfrm>
            <a:off x="-884258" y="4092619"/>
            <a:ext cx="2532725" cy="1881750"/>
            <a:chOff x="7221517" y="-507956"/>
            <a:chExt cx="2532725" cy="1881750"/>
          </a:xfrm>
        </p:grpSpPr>
        <p:sp>
          <p:nvSpPr>
            <p:cNvPr id="124" name="Google Shape;124;p5"/>
            <p:cNvSpPr/>
            <p:nvPr/>
          </p:nvSpPr>
          <p:spPr>
            <a:xfrm rot="-157512" flipH="1">
              <a:off x="8467712" y="4798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2"/>
                  </a:cubicBezTo>
                  <a:cubicBezTo>
                    <a:pt x="2282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 rot="-157512" flipH="1">
              <a:off x="8489459" y="-461709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1"/>
                  </a:lnTo>
                  <a:lnTo>
                    <a:pt x="1028" y="22524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5"/>
            <p:cNvSpPr/>
            <p:nvPr/>
          </p:nvSpPr>
          <p:spPr>
            <a:xfrm rot="-157512" flipH="1">
              <a:off x="7863600" y="-477589"/>
              <a:ext cx="650167" cy="721114"/>
            </a:xfrm>
            <a:custGeom>
              <a:avLst/>
              <a:gdLst/>
              <a:ahLst/>
              <a:cxnLst/>
              <a:rect l="l" t="t" r="r" b="b"/>
              <a:pathLst>
                <a:path w="26008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5" y="1"/>
                  </a:lnTo>
                  <a:lnTo>
                    <a:pt x="0" y="8103"/>
                  </a:lnTo>
                  <a:lnTo>
                    <a:pt x="1028" y="22525"/>
                  </a:lnTo>
                  <a:lnTo>
                    <a:pt x="14032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5"/>
            <p:cNvSpPr/>
            <p:nvPr/>
          </p:nvSpPr>
          <p:spPr>
            <a:xfrm rot="-157512" flipH="1">
              <a:off x="7237690" y="-493444"/>
              <a:ext cx="650217" cy="721114"/>
            </a:xfrm>
            <a:custGeom>
              <a:avLst/>
              <a:gdLst/>
              <a:ahLst/>
              <a:cxnLst/>
              <a:rect l="l" t="t" r="r" b="b"/>
              <a:pathLst>
                <a:path w="26010" h="28846" fill="none" extrusionOk="0">
                  <a:moveTo>
                    <a:pt x="26010" y="20743"/>
                  </a:moveTo>
                  <a:lnTo>
                    <a:pt x="24981" y="6321"/>
                  </a:lnTo>
                  <a:lnTo>
                    <a:pt x="11976" y="0"/>
                  </a:lnTo>
                  <a:lnTo>
                    <a:pt x="1" y="8102"/>
                  </a:lnTo>
                  <a:lnTo>
                    <a:pt x="1029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5"/>
            <p:cNvSpPr/>
            <p:nvPr/>
          </p:nvSpPr>
          <p:spPr>
            <a:xfrm rot="-157512" flipH="1">
              <a:off x="8788681" y="88254"/>
              <a:ext cx="650192" cy="721064"/>
            </a:xfrm>
            <a:custGeom>
              <a:avLst/>
              <a:gdLst/>
              <a:ahLst/>
              <a:cxnLst/>
              <a:rect l="l" t="t" r="r" b="b"/>
              <a:pathLst>
                <a:path w="26009" h="28844" fill="none" extrusionOk="0">
                  <a:moveTo>
                    <a:pt x="26009" y="20743"/>
                  </a:moveTo>
                  <a:lnTo>
                    <a:pt x="24981" y="6320"/>
                  </a:lnTo>
                  <a:lnTo>
                    <a:pt x="11976" y="0"/>
                  </a:lnTo>
                  <a:lnTo>
                    <a:pt x="1" y="8101"/>
                  </a:lnTo>
                  <a:lnTo>
                    <a:pt x="1029" y="22523"/>
                  </a:lnTo>
                  <a:lnTo>
                    <a:pt x="14033" y="28844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5"/>
            <p:cNvSpPr/>
            <p:nvPr/>
          </p:nvSpPr>
          <p:spPr>
            <a:xfrm rot="-157512" flipH="1">
              <a:off x="8162796" y="72374"/>
              <a:ext cx="650192" cy="721114"/>
            </a:xfrm>
            <a:custGeom>
              <a:avLst/>
              <a:gdLst/>
              <a:ahLst/>
              <a:cxnLst/>
              <a:rect l="l" t="t" r="r" b="b"/>
              <a:pathLst>
                <a:path w="26009" h="28846" fill="none" extrusionOk="0">
                  <a:moveTo>
                    <a:pt x="26008" y="20743"/>
                  </a:moveTo>
                  <a:lnTo>
                    <a:pt x="24980" y="6321"/>
                  </a:lnTo>
                  <a:lnTo>
                    <a:pt x="11976" y="1"/>
                  </a:lnTo>
                  <a:lnTo>
                    <a:pt x="1" y="8102"/>
                  </a:lnTo>
                  <a:lnTo>
                    <a:pt x="1029" y="22525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5"/>
            <p:cNvSpPr/>
            <p:nvPr/>
          </p:nvSpPr>
          <p:spPr>
            <a:xfrm rot="-157512" flipH="1">
              <a:off x="9087877" y="638193"/>
              <a:ext cx="650192" cy="721089"/>
            </a:xfrm>
            <a:custGeom>
              <a:avLst/>
              <a:gdLst/>
              <a:ahLst/>
              <a:cxnLst/>
              <a:rect l="l" t="t" r="r" b="b"/>
              <a:pathLst>
                <a:path w="26009" h="28845" fill="none" extrusionOk="0">
                  <a:moveTo>
                    <a:pt x="26008" y="20744"/>
                  </a:moveTo>
                  <a:lnTo>
                    <a:pt x="24980" y="6321"/>
                  </a:lnTo>
                  <a:lnTo>
                    <a:pt x="11976" y="0"/>
                  </a:lnTo>
                  <a:lnTo>
                    <a:pt x="0" y="8102"/>
                  </a:lnTo>
                  <a:lnTo>
                    <a:pt x="1028" y="22524"/>
                  </a:lnTo>
                  <a:lnTo>
                    <a:pt x="14033" y="28845"/>
                  </a:lnTo>
                  <a:close/>
                </a:path>
              </a:pathLst>
            </a:custGeom>
            <a:noFill/>
            <a:ln w="7725" cap="flat" cmpd="sng">
              <a:solidFill>
                <a:schemeClr val="dk2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5"/>
            <p:cNvSpPr/>
            <p:nvPr/>
          </p:nvSpPr>
          <p:spPr>
            <a:xfrm rot="-157512" flipH="1">
              <a:off x="7525463" y="193693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5"/>
            <p:cNvSpPr/>
            <p:nvPr/>
          </p:nvSpPr>
          <p:spPr>
            <a:xfrm rot="-157512" flipH="1">
              <a:off x="9076066" y="781639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5"/>
            <p:cNvSpPr/>
            <p:nvPr/>
          </p:nvSpPr>
          <p:spPr>
            <a:xfrm rot="-157512" flipH="1">
              <a:off x="9692804" y="1158867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0"/>
                  </a:moveTo>
                  <a:cubicBezTo>
                    <a:pt x="511" y="0"/>
                    <a:pt x="0" y="510"/>
                    <a:pt x="0" y="1140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1" y="2281"/>
                    <a:pt x="2282" y="1770"/>
                    <a:pt x="2282" y="1140"/>
                  </a:cubicBezTo>
                  <a:cubicBezTo>
                    <a:pt x="2282" y="510"/>
                    <a:pt x="1771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4135975" y="1757900"/>
            <a:ext cx="4294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4135975" y="2330600"/>
            <a:ext cx="4294800" cy="122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139" name="Google Shape;139;p7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140" name="Google Shape;140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41" name="Google Shape;141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42" name="Google Shape;142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43" name="Google Shape;143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44" name="Google Shape;144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5" name="Google Shape;145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6" name="Google Shape;146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7" name="Google Shape;147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8" name="Google Shape;148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49" name="Google Shape;149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0" name="Google Shape;150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1" name="Google Shape;151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2" name="Google Shape;152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3" name="Google Shape;153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4" name="Google Shape;154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5" name="Google Shape;155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6" name="Google Shape;156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7" name="Google Shape;157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8" name="Google Shape;158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59" name="Google Shape;159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0" name="Google Shape;160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1" name="Google Shape;161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2" name="Google Shape;162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3" name="Google Shape;163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4" name="Google Shape;164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5" name="Google Shape;165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6" name="Google Shape;166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7" name="Google Shape;167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8" name="Google Shape;168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69" name="Google Shape;169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0" name="Google Shape;170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71" name="Google Shape;171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72" name="Google Shape;172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3" name="Google Shape;173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4" name="Google Shape;174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5" name="Google Shape;175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6" name="Google Shape;176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7" name="Google Shape;177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8" name="Google Shape;178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9" name="Google Shape;179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180" name="Google Shape;180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3" name="Google Shape;183;p7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184" name="Google Shape;184;p7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185" name="Google Shape;185;p7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6" name="Google Shape;186;p7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187" name="Google Shape;187;p7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188" name="Google Shape;188;p7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89" name="Google Shape;189;p7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0" name="Google Shape;190;p7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1" name="Google Shape;191;p7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2" name="Google Shape;192;p7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3" name="Google Shape;193;p7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4" name="Google Shape;194;p7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5" name="Google Shape;195;p7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6" name="Google Shape;196;p7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7" name="Google Shape;197;p7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8" name="Google Shape;198;p7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99" name="Google Shape;199;p7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0" name="Google Shape;200;p7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1" name="Google Shape;201;p7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2" name="Google Shape;202;p7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3" name="Google Shape;203;p7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4" name="Google Shape;204;p7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5" name="Google Shape;205;p7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6" name="Google Shape;206;p7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7" name="Google Shape;207;p7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8" name="Google Shape;208;p7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09" name="Google Shape;209;p7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0" name="Google Shape;210;p7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1" name="Google Shape;211;p7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2" name="Google Shape;212;p7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3" name="Google Shape;213;p7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4" name="Google Shape;214;p7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15" name="Google Shape;215;p7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16" name="Google Shape;216;p7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7" name="Google Shape;217;p7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8" name="Google Shape;218;p7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19" name="Google Shape;219;p7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0" name="Google Shape;220;p7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1" name="Google Shape;221;p7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2" name="Google Shape;222;p7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3" name="Google Shape;223;p7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24" name="Google Shape;224;p7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7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7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>
            <a:spLocks noGrp="1"/>
          </p:cNvSpPr>
          <p:nvPr>
            <p:ph type="title"/>
          </p:nvPr>
        </p:nvSpPr>
        <p:spPr>
          <a:xfrm>
            <a:off x="943050" y="1307100"/>
            <a:ext cx="7257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8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229" name="Google Shape;229;p8"/>
          <p:cNvGrpSpPr/>
          <p:nvPr/>
        </p:nvGrpSpPr>
        <p:grpSpPr>
          <a:xfrm>
            <a:off x="5478864" y="2056701"/>
            <a:ext cx="5036265" cy="4113315"/>
            <a:chOff x="4780389" y="2513201"/>
            <a:chExt cx="5036265" cy="4113315"/>
          </a:xfrm>
        </p:grpSpPr>
        <p:grpSp>
          <p:nvGrpSpPr>
            <p:cNvPr id="230" name="Google Shape;230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31" name="Google Shape;231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2" name="Google Shape;232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33" name="Google Shape;233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34" name="Google Shape;234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5" name="Google Shape;235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6" name="Google Shape;236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7" name="Google Shape;237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8" name="Google Shape;238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39" name="Google Shape;239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0" name="Google Shape;240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1" name="Google Shape;241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2" name="Google Shape;242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3" name="Google Shape;243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4" name="Google Shape;244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5" name="Google Shape;245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6" name="Google Shape;246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7" name="Google Shape;247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8" name="Google Shape;248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49" name="Google Shape;249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0" name="Google Shape;250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1" name="Google Shape;251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2" name="Google Shape;252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3" name="Google Shape;253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4" name="Google Shape;254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5" name="Google Shape;255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6" name="Google Shape;256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7" name="Google Shape;257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8" name="Google Shape;258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59" name="Google Shape;259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0" name="Google Shape;260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61" name="Google Shape;261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262" name="Google Shape;262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270" name="Google Shape;270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3" name="Google Shape;273;p8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274" name="Google Shape;274;p8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275" name="Google Shape;275;p8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76" name="Google Shape;276;p8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277" name="Google Shape;277;p8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278" name="Google Shape;278;p8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79" name="Google Shape;279;p8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0" name="Google Shape;280;p8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1" name="Google Shape;281;p8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2" name="Google Shape;282;p8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3" name="Google Shape;283;p8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4" name="Google Shape;284;p8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5" name="Google Shape;285;p8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6" name="Google Shape;286;p8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7" name="Google Shape;287;p8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8" name="Google Shape;288;p8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9" name="Google Shape;289;p8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290;p8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1" name="Google Shape;291;p8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2" name="Google Shape;292;p8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3" name="Google Shape;293;p8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4" name="Google Shape;294;p8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5" name="Google Shape;295;p8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6" name="Google Shape;296;p8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7" name="Google Shape;297;p8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8" name="Google Shape;298;p8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9" name="Google Shape;299;p8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0" name="Google Shape;300;p8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1" name="Google Shape;301;p8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2" name="Google Shape;302;p8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3" name="Google Shape;303;p8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4" name="Google Shape;304;p8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5" name="Google Shape;305;p8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06" name="Google Shape;306;p8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7" name="Google Shape;307;p8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8" name="Google Shape;308;p8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09" name="Google Shape;309;p8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0" name="Google Shape;310;p8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1" name="Google Shape;311;p8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2" name="Google Shape;312;p8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8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14" name="Google Shape;314;p8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8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19" name="Google Shape;319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0"/>
          <p:cNvSpPr txBox="1">
            <a:spLocks noGrp="1"/>
          </p:cNvSpPr>
          <p:nvPr>
            <p:ph type="title"/>
          </p:nvPr>
        </p:nvSpPr>
        <p:spPr>
          <a:xfrm>
            <a:off x="713225" y="3502900"/>
            <a:ext cx="5202300" cy="10452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322" name="Google Shape;322;p10"/>
          <p:cNvGrpSpPr/>
          <p:nvPr/>
        </p:nvGrpSpPr>
        <p:grpSpPr>
          <a:xfrm rot="10800000">
            <a:off x="6825617" y="-226461"/>
            <a:ext cx="3485298" cy="1363521"/>
            <a:chOff x="5000328" y="4413931"/>
            <a:chExt cx="3485298" cy="1363521"/>
          </a:xfrm>
        </p:grpSpPr>
        <p:grpSp>
          <p:nvGrpSpPr>
            <p:cNvPr id="323" name="Google Shape;323;p10"/>
            <p:cNvGrpSpPr/>
            <p:nvPr/>
          </p:nvGrpSpPr>
          <p:grpSpPr>
            <a:xfrm>
              <a:off x="5000328" y="4413931"/>
              <a:ext cx="3485298" cy="1363521"/>
              <a:chOff x="4151828" y="2626856"/>
              <a:chExt cx="3485298" cy="1363521"/>
            </a:xfrm>
          </p:grpSpPr>
          <p:sp>
            <p:nvSpPr>
              <p:cNvPr id="324" name="Google Shape;324;p10"/>
              <p:cNvSpPr/>
              <p:nvPr/>
            </p:nvSpPr>
            <p:spPr>
              <a:xfrm rot="157512">
                <a:off x="4467198" y="2704787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2" y="6322"/>
                    </a:lnTo>
                    <a:lnTo>
                      <a:pt x="11977" y="1"/>
                    </a:lnTo>
                    <a:lnTo>
                      <a:pt x="1" y="8103"/>
                    </a:lnTo>
                    <a:lnTo>
                      <a:pt x="1030" y="22525"/>
                    </a:lnTo>
                    <a:lnTo>
                      <a:pt x="14033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10"/>
              <p:cNvSpPr/>
              <p:nvPr/>
            </p:nvSpPr>
            <p:spPr>
              <a:xfrm rot="157512">
                <a:off x="5093107" y="2688958"/>
                <a:ext cx="650192" cy="721089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5" fill="none" extrusionOk="0">
                    <a:moveTo>
                      <a:pt x="26008" y="20743"/>
                    </a:moveTo>
                    <a:lnTo>
                      <a:pt x="24980" y="6320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10"/>
              <p:cNvSpPr/>
              <p:nvPr/>
            </p:nvSpPr>
            <p:spPr>
              <a:xfrm rot="157512">
                <a:off x="5718992" y="2673103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0"/>
                    </a:lnTo>
                    <a:lnTo>
                      <a:pt x="0" y="8101"/>
                    </a:lnTo>
                    <a:lnTo>
                      <a:pt x="1028" y="22524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10"/>
              <p:cNvSpPr/>
              <p:nvPr/>
            </p:nvSpPr>
            <p:spPr>
              <a:xfrm rot="157512">
                <a:off x="6344876" y="2657223"/>
                <a:ext cx="65016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8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5" y="1"/>
                    </a:lnTo>
                    <a:lnTo>
                      <a:pt x="0" y="8103"/>
                    </a:lnTo>
                    <a:lnTo>
                      <a:pt x="1028" y="22525"/>
                    </a:lnTo>
                    <a:lnTo>
                      <a:pt x="14032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10"/>
              <p:cNvSpPr/>
              <p:nvPr/>
            </p:nvSpPr>
            <p:spPr>
              <a:xfrm rot="157512">
                <a:off x="6970736" y="2641369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10" y="20743"/>
                    </a:moveTo>
                    <a:lnTo>
                      <a:pt x="24981" y="6321"/>
                    </a:lnTo>
                    <a:lnTo>
                      <a:pt x="11976" y="0"/>
                    </a:lnTo>
                    <a:lnTo>
                      <a:pt x="1" y="8102"/>
                    </a:lnTo>
                    <a:lnTo>
                      <a:pt x="1029" y="22524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10"/>
              <p:cNvSpPr/>
              <p:nvPr/>
            </p:nvSpPr>
            <p:spPr>
              <a:xfrm rot="157512">
                <a:off x="4168001" y="3254751"/>
                <a:ext cx="650217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10" h="28846" fill="none" extrusionOk="0">
                    <a:moveTo>
                      <a:pt x="26009" y="20744"/>
                    </a:moveTo>
                    <a:lnTo>
                      <a:pt x="24980" y="6322"/>
                    </a:lnTo>
                    <a:lnTo>
                      <a:pt x="11977" y="1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4" y="28846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10"/>
              <p:cNvSpPr/>
              <p:nvPr/>
            </p:nvSpPr>
            <p:spPr>
              <a:xfrm rot="157512">
                <a:off x="4793885" y="3238896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9" y="20743"/>
                    </a:moveTo>
                    <a:lnTo>
                      <a:pt x="24981" y="6321"/>
                    </a:lnTo>
                    <a:lnTo>
                      <a:pt x="11977" y="0"/>
                    </a:lnTo>
                    <a:lnTo>
                      <a:pt x="0" y="8103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10"/>
              <p:cNvSpPr/>
              <p:nvPr/>
            </p:nvSpPr>
            <p:spPr>
              <a:xfrm rot="157512">
                <a:off x="5419770" y="3223067"/>
                <a:ext cx="650192" cy="72106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4" fill="none" extrusionOk="0">
                    <a:moveTo>
                      <a:pt x="26009" y="20743"/>
                    </a:moveTo>
                    <a:lnTo>
                      <a:pt x="24981" y="6320"/>
                    </a:lnTo>
                    <a:lnTo>
                      <a:pt x="11976" y="0"/>
                    </a:lnTo>
                    <a:lnTo>
                      <a:pt x="1" y="8101"/>
                    </a:lnTo>
                    <a:lnTo>
                      <a:pt x="1029" y="22523"/>
                    </a:lnTo>
                    <a:lnTo>
                      <a:pt x="14033" y="28844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10"/>
              <p:cNvSpPr/>
              <p:nvPr/>
            </p:nvSpPr>
            <p:spPr>
              <a:xfrm rot="157512">
                <a:off x="6045654" y="3207187"/>
                <a:ext cx="650192" cy="721114"/>
              </a:xfrm>
              <a:custGeom>
                <a:avLst/>
                <a:gdLst/>
                <a:ahLst/>
                <a:cxnLst/>
                <a:rect l="l" t="t" r="r" b="b"/>
                <a:pathLst>
                  <a:path w="26009" h="28846" fill="none" extrusionOk="0">
                    <a:moveTo>
                      <a:pt x="26008" y="20743"/>
                    </a:moveTo>
                    <a:lnTo>
                      <a:pt x="24980" y="6321"/>
                    </a:lnTo>
                    <a:lnTo>
                      <a:pt x="11976" y="1"/>
                    </a:lnTo>
                    <a:lnTo>
                      <a:pt x="1" y="8102"/>
                    </a:lnTo>
                    <a:lnTo>
                      <a:pt x="1029" y="22525"/>
                    </a:lnTo>
                    <a:lnTo>
                      <a:pt x="14033" y="28845"/>
                    </a:lnTo>
                    <a:close/>
                  </a:path>
                </a:pathLst>
              </a:custGeom>
              <a:solidFill>
                <a:schemeClr val="dk1"/>
              </a:solidFill>
              <a:ln w="7725" cap="flat" cmpd="sng">
                <a:solidFill>
                  <a:schemeClr val="dk1"/>
                </a:solidFill>
                <a:prstDash val="solid"/>
                <a:miter lim="102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10"/>
            <p:cNvSpPr/>
            <p:nvPr/>
          </p:nvSpPr>
          <p:spPr>
            <a:xfrm rot="157512">
              <a:off x="8124633" y="5115580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0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1"/>
                    <a:pt x="510" y="2281"/>
                    <a:pt x="1140" y="2281"/>
                  </a:cubicBezTo>
                  <a:cubicBezTo>
                    <a:pt x="1771" y="2281"/>
                    <a:pt x="2281" y="1771"/>
                    <a:pt x="2281" y="1141"/>
                  </a:cubicBezTo>
                  <a:cubicBezTo>
                    <a:pt x="2281" y="511"/>
                    <a:pt x="1771" y="0"/>
                    <a:pt x="1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0"/>
            <p:cNvSpPr/>
            <p:nvPr/>
          </p:nvSpPr>
          <p:spPr>
            <a:xfrm rot="157512">
              <a:off x="6574005" y="5703526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1" y="1"/>
                  </a:moveTo>
                  <a:cubicBezTo>
                    <a:pt x="511" y="1"/>
                    <a:pt x="0" y="511"/>
                    <a:pt x="0" y="1141"/>
                  </a:cubicBezTo>
                  <a:cubicBezTo>
                    <a:pt x="0" y="1771"/>
                    <a:pt x="511" y="2282"/>
                    <a:pt x="1141" y="2282"/>
                  </a:cubicBezTo>
                  <a:cubicBezTo>
                    <a:pt x="1771" y="2282"/>
                    <a:pt x="2282" y="1771"/>
                    <a:pt x="2282" y="1141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0"/>
            <p:cNvSpPr/>
            <p:nvPr/>
          </p:nvSpPr>
          <p:spPr>
            <a:xfrm rot="157512">
              <a:off x="5929801" y="4996682"/>
              <a:ext cx="57072" cy="57047"/>
            </a:xfrm>
            <a:custGeom>
              <a:avLst/>
              <a:gdLst/>
              <a:ahLst/>
              <a:cxnLst/>
              <a:rect l="l" t="t" r="r" b="b"/>
              <a:pathLst>
                <a:path w="2283" h="2282" extrusionOk="0">
                  <a:moveTo>
                    <a:pt x="1142" y="0"/>
                  </a:moveTo>
                  <a:cubicBezTo>
                    <a:pt x="511" y="0"/>
                    <a:pt x="1" y="510"/>
                    <a:pt x="1" y="1140"/>
                  </a:cubicBezTo>
                  <a:cubicBezTo>
                    <a:pt x="1" y="1771"/>
                    <a:pt x="511" y="2281"/>
                    <a:pt x="1142" y="2281"/>
                  </a:cubicBezTo>
                  <a:cubicBezTo>
                    <a:pt x="1772" y="2281"/>
                    <a:pt x="2283" y="1771"/>
                    <a:pt x="2283" y="1140"/>
                  </a:cubicBezTo>
                  <a:cubicBezTo>
                    <a:pt x="2283" y="510"/>
                    <a:pt x="1772" y="0"/>
                    <a:pt x="11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707525"/>
            <a:ext cx="6576000" cy="155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38" name="Google Shape;338;p11"/>
          <p:cNvSpPr txBox="1">
            <a:spLocks noGrp="1"/>
          </p:cNvSpPr>
          <p:nvPr>
            <p:ph type="subTitle" idx="1"/>
          </p:nvPr>
        </p:nvSpPr>
        <p:spPr>
          <a:xfrm>
            <a:off x="1284000" y="3259075"/>
            <a:ext cx="6576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5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339" name="Google Shape;339;p11"/>
          <p:cNvGrpSpPr/>
          <p:nvPr/>
        </p:nvGrpSpPr>
        <p:grpSpPr>
          <a:xfrm rot="10800000">
            <a:off x="4305914" y="3662226"/>
            <a:ext cx="5036265" cy="4113315"/>
            <a:chOff x="4780389" y="2513201"/>
            <a:chExt cx="5036265" cy="4113315"/>
          </a:xfrm>
        </p:grpSpPr>
        <p:grpSp>
          <p:nvGrpSpPr>
            <p:cNvPr id="340" name="Google Shape;340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41" name="Google Shape;341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42" name="Google Shape;342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43" name="Google Shape;343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44" name="Google Shape;344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5" name="Google Shape;345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6" name="Google Shape;346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7" name="Google Shape;347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8" name="Google Shape;348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2" name="Google Shape;352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3" name="Google Shape;353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4" name="Google Shape;354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5" name="Google Shape;355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6" name="Google Shape;356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7" name="Google Shape;357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8" name="Google Shape;358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9" name="Google Shape;359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0" name="Google Shape;360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1" name="Google Shape;361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2" name="Google Shape;362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3" name="Google Shape;363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4" name="Google Shape;364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5" name="Google Shape;365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6" name="Google Shape;366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7" name="Google Shape;367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8" name="Google Shape;368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69" name="Google Shape;369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0" name="Google Shape;370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71" name="Google Shape;371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72" name="Google Shape;372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3" name="Google Shape;373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4" name="Google Shape;374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5" name="Google Shape;375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6" name="Google Shape;376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7" name="Google Shape;377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8" name="Google Shape;378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9" name="Google Shape;379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80" name="Google Shape;380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3" name="Google Shape;383;p11"/>
          <p:cNvGrpSpPr/>
          <p:nvPr/>
        </p:nvGrpSpPr>
        <p:grpSpPr>
          <a:xfrm>
            <a:off x="-128336" y="-2516262"/>
            <a:ext cx="5036265" cy="4113315"/>
            <a:chOff x="4780389" y="2513201"/>
            <a:chExt cx="5036265" cy="4113315"/>
          </a:xfrm>
        </p:grpSpPr>
        <p:grpSp>
          <p:nvGrpSpPr>
            <p:cNvPr id="384" name="Google Shape;384;p11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385" name="Google Shape;385;p11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386" name="Google Shape;386;p11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387" name="Google Shape;387;p11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388" name="Google Shape;388;p11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89" name="Google Shape;389;p11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0" name="Google Shape;390;p11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1" name="Google Shape;391;p11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2" name="Google Shape;392;p11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3" name="Google Shape;393;p11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4" name="Google Shape;394;p11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5" name="Google Shape;395;p11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6" name="Google Shape;396;p11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7" name="Google Shape;397;p11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8" name="Google Shape;398;p11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99" name="Google Shape;399;p11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0" name="Google Shape;400;p11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1" name="Google Shape;401;p11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2" name="Google Shape;402;p11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3" name="Google Shape;403;p11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4" name="Google Shape;404;p11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5" name="Google Shape;405;p11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6" name="Google Shape;406;p11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7" name="Google Shape;407;p11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8" name="Google Shape;408;p11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09" name="Google Shape;409;p11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0" name="Google Shape;410;p11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1" name="Google Shape;411;p11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2" name="Google Shape;412;p11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3" name="Google Shape;413;p11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4" name="Google Shape;414;p11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15" name="Google Shape;415;p11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16" name="Google Shape;416;p11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7" name="Google Shape;417;p11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8" name="Google Shape;418;p11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9" name="Google Shape;419;p11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0" name="Google Shape;420;p11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1" name="Google Shape;421;p11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2" name="Google Shape;422;p11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3" name="Google Shape;423;p11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24" name="Google Shape;424;p11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1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1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 Black"/>
              <a:buNone/>
              <a:defRPr sz="320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◆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○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■"/>
              <a:defRPr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bF_SKHOtCSX6X_Yq_QvfV2GXvXECf5g-4vd5eR8SCrs/copy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"/>
          <p:cNvSpPr txBox="1">
            <a:spLocks noGrp="1"/>
          </p:cNvSpPr>
          <p:nvPr>
            <p:ph type="ctrTitle"/>
          </p:nvPr>
        </p:nvSpPr>
        <p:spPr>
          <a:xfrm flipH="1">
            <a:off x="272830" y="2263129"/>
            <a:ext cx="7033800" cy="14003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u="sng" dirty="0">
                <a:latin typeface="Montserrat Black"/>
                <a:ea typeface="Montserrat Black"/>
                <a:cs typeface="Montserrat Black"/>
                <a:sym typeface="Montserrat Black"/>
              </a:rPr>
              <a:t>Safey</a:t>
            </a:r>
            <a:br>
              <a:rPr lang="en-US" sz="5200" u="sng" dirty="0">
                <a:latin typeface="Montserrat Black"/>
                <a:ea typeface="Montserrat Black"/>
                <a:cs typeface="Montserrat Black"/>
                <a:sym typeface="Montserrat Black"/>
              </a:rPr>
            </a:br>
            <a:endParaRPr sz="5200" u="sng" dirty="0">
              <a:solidFill>
                <a:schemeClr val="dk2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400" dirty="0">
                <a:latin typeface="Montserrat"/>
                <a:ea typeface="Montserrat"/>
                <a:cs typeface="Montserrat"/>
                <a:sym typeface="Montserrat"/>
              </a:rPr>
              <a:t>SOLUȚIE DE SECURITATE CIBERNETICĂ EMAIL B2B</a:t>
            </a:r>
            <a:endParaRPr sz="24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8" name="Google Shape;438;p15"/>
          <p:cNvPicPr preferRelativeResize="0"/>
          <p:nvPr/>
        </p:nvPicPr>
        <p:blipFill rotWithShape="1">
          <a:blip r:embed="rId3">
            <a:alphaModFix/>
          </a:blip>
          <a:srcRect l="25537" t="7152" r="23467" b="5838"/>
          <a:stretch/>
        </p:blipFill>
        <p:spPr>
          <a:xfrm flipH="1">
            <a:off x="292161" y="3861800"/>
            <a:ext cx="1920000" cy="184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/>
          <p:cNvPicPr preferRelativeResize="0"/>
          <p:nvPr/>
        </p:nvPicPr>
        <p:blipFill rotWithShape="1">
          <a:blip r:embed="rId4">
            <a:alphaModFix/>
          </a:blip>
          <a:srcRect l="22009" r="18455"/>
          <a:stretch/>
        </p:blipFill>
        <p:spPr>
          <a:xfrm rot="1020085" flipH="1">
            <a:off x="1540113" y="174240"/>
            <a:ext cx="1187445" cy="11219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0" name="Google Shape;440;p15"/>
          <p:cNvGrpSpPr/>
          <p:nvPr/>
        </p:nvGrpSpPr>
        <p:grpSpPr>
          <a:xfrm flipH="1">
            <a:off x="1325823" y="361000"/>
            <a:ext cx="76825" cy="76800"/>
            <a:chOff x="3104875" y="1099400"/>
            <a:chExt cx="76825" cy="76800"/>
          </a:xfrm>
        </p:grpSpPr>
        <p:sp>
          <p:nvSpPr>
            <p:cNvPr id="441" name="Google Shape;441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3" name="Google Shape;443;p15"/>
          <p:cNvGrpSpPr/>
          <p:nvPr/>
        </p:nvGrpSpPr>
        <p:grpSpPr>
          <a:xfrm flipH="1">
            <a:off x="2428535" y="4414100"/>
            <a:ext cx="76825" cy="76800"/>
            <a:chOff x="3104875" y="1099400"/>
            <a:chExt cx="76825" cy="76800"/>
          </a:xfrm>
        </p:grpSpPr>
        <p:sp>
          <p:nvSpPr>
            <p:cNvPr id="444" name="Google Shape;444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6" name="Google Shape;446;p15"/>
          <p:cNvGrpSpPr/>
          <p:nvPr/>
        </p:nvGrpSpPr>
        <p:grpSpPr>
          <a:xfrm flipH="1">
            <a:off x="6714085" y="729700"/>
            <a:ext cx="76825" cy="76800"/>
            <a:chOff x="3104875" y="1099400"/>
            <a:chExt cx="76825" cy="76800"/>
          </a:xfrm>
        </p:grpSpPr>
        <p:sp>
          <p:nvSpPr>
            <p:cNvPr id="447" name="Google Shape;447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3072"/>
                  </a:moveTo>
                  <a:lnTo>
                    <a:pt x="3072" y="0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15"/>
            <p:cNvSpPr/>
            <p:nvPr/>
          </p:nvSpPr>
          <p:spPr>
            <a:xfrm>
              <a:off x="3104875" y="1099400"/>
              <a:ext cx="76825" cy="76800"/>
            </a:xfrm>
            <a:custGeom>
              <a:avLst/>
              <a:gdLst/>
              <a:ahLst/>
              <a:cxnLst/>
              <a:rect l="l" t="t" r="r" b="b"/>
              <a:pathLst>
                <a:path w="3073" h="3072" fill="none" extrusionOk="0">
                  <a:moveTo>
                    <a:pt x="1" y="0"/>
                  </a:moveTo>
                  <a:lnTo>
                    <a:pt x="3072" y="3072"/>
                  </a:lnTo>
                </a:path>
              </a:pathLst>
            </a:custGeom>
            <a:noFill/>
            <a:ln w="23350" cap="flat" cmpd="sng">
              <a:solidFill>
                <a:schemeClr val="dk1"/>
              </a:solidFill>
              <a:prstDash val="solid"/>
              <a:miter lim="102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9" name="Google Shape;449;p15"/>
          <p:cNvPicPr preferRelativeResize="0"/>
          <p:nvPr/>
        </p:nvPicPr>
        <p:blipFill rotWithShape="1">
          <a:blip r:embed="rId5">
            <a:alphaModFix/>
          </a:blip>
          <a:srcRect l="18647" t="7960" r="8852" b="8336"/>
          <a:stretch/>
        </p:blipFill>
        <p:spPr>
          <a:xfrm rot="1152297" flipH="1">
            <a:off x="7073459" y="317437"/>
            <a:ext cx="1647827" cy="10701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0" name="Google Shape;450;p15"/>
          <p:cNvGrpSpPr/>
          <p:nvPr/>
        </p:nvGrpSpPr>
        <p:grpSpPr>
          <a:xfrm>
            <a:off x="6171039" y="2675126"/>
            <a:ext cx="5036265" cy="4113315"/>
            <a:chOff x="4780389" y="2513201"/>
            <a:chExt cx="5036265" cy="4113315"/>
          </a:xfrm>
        </p:grpSpPr>
        <p:grpSp>
          <p:nvGrpSpPr>
            <p:cNvPr id="451" name="Google Shape;451;p15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52" name="Google Shape;452;p15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53" name="Google Shape;453;p15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54" name="Google Shape;454;p15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55" name="Google Shape;455;p15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6" name="Google Shape;456;p15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7" name="Google Shape;457;p15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8" name="Google Shape;458;p15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59" name="Google Shape;459;p15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0" name="Google Shape;460;p15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1" name="Google Shape;461;p15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2" name="Google Shape;462;p15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3" name="Google Shape;463;p15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4" name="Google Shape;464;p15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5" name="Google Shape;465;p15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6" name="Google Shape;466;p15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7" name="Google Shape;467;p15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8" name="Google Shape;468;p15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69" name="Google Shape;469;p15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0" name="Google Shape;470;p15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1" name="Google Shape;471;p15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2" name="Google Shape;472;p15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3" name="Google Shape;473;p15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4" name="Google Shape;474;p15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5" name="Google Shape;475;p15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6" name="Google Shape;476;p15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7" name="Google Shape;477;p15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8" name="Google Shape;478;p15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79" name="Google Shape;479;p15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0" name="Google Shape;480;p15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1" name="Google Shape;481;p15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482" name="Google Shape;482;p15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483" name="Google Shape;483;p15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4" name="Google Shape;484;p15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5" name="Google Shape;485;p15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6" name="Google Shape;486;p15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7" name="Google Shape;487;p15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8" name="Google Shape;488;p15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89" name="Google Shape;489;p15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90" name="Google Shape;490;p15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491" name="Google Shape;491;p15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15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15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15"/>
          <p:cNvGrpSpPr/>
          <p:nvPr/>
        </p:nvGrpSpPr>
        <p:grpSpPr>
          <a:xfrm>
            <a:off x="-3934986" y="-304812"/>
            <a:ext cx="5036265" cy="4113315"/>
            <a:chOff x="4780389" y="2513201"/>
            <a:chExt cx="5036265" cy="4113315"/>
          </a:xfrm>
        </p:grpSpPr>
        <p:grpSp>
          <p:nvGrpSpPr>
            <p:cNvPr id="495" name="Google Shape;495;p15"/>
            <p:cNvGrpSpPr/>
            <p:nvPr/>
          </p:nvGrpSpPr>
          <p:grpSpPr>
            <a:xfrm>
              <a:off x="4780389" y="2513201"/>
              <a:ext cx="5036265" cy="4113315"/>
              <a:chOff x="4673664" y="2214101"/>
              <a:chExt cx="5036265" cy="4113315"/>
            </a:xfrm>
          </p:grpSpPr>
          <p:sp>
            <p:nvSpPr>
              <p:cNvPr id="496" name="Google Shape;496;p15"/>
              <p:cNvSpPr/>
              <p:nvPr/>
            </p:nvSpPr>
            <p:spPr>
              <a:xfrm rot="157512">
                <a:off x="9047033" y="4559649"/>
                <a:ext cx="57072" cy="57047"/>
              </a:xfrm>
              <a:custGeom>
                <a:avLst/>
                <a:gdLst/>
                <a:ahLst/>
                <a:cxnLst/>
                <a:rect l="l" t="t" r="r" b="b"/>
                <a:pathLst>
                  <a:path w="2283" h="2282" extrusionOk="0">
                    <a:moveTo>
                      <a:pt x="1141" y="1"/>
                    </a:moveTo>
                    <a:cubicBezTo>
                      <a:pt x="511" y="1"/>
                      <a:pt x="0" y="512"/>
                      <a:pt x="0" y="1142"/>
                    </a:cubicBezTo>
                    <a:cubicBezTo>
                      <a:pt x="0" y="1771"/>
                      <a:pt x="511" y="2282"/>
                      <a:pt x="1141" y="2282"/>
                    </a:cubicBezTo>
                    <a:cubicBezTo>
                      <a:pt x="1771" y="2282"/>
                      <a:pt x="2282" y="1771"/>
                      <a:pt x="2282" y="1142"/>
                    </a:cubicBezTo>
                    <a:cubicBezTo>
                      <a:pt x="2282" y="512"/>
                      <a:pt x="1771" y="1"/>
                      <a:pt x="11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97" name="Google Shape;497;p15"/>
              <p:cNvGrpSpPr/>
              <p:nvPr/>
            </p:nvGrpSpPr>
            <p:grpSpPr>
              <a:xfrm>
                <a:off x="4673664" y="2214101"/>
                <a:ext cx="5036265" cy="4113315"/>
                <a:chOff x="4673664" y="2214101"/>
                <a:chExt cx="5036265" cy="4113315"/>
              </a:xfrm>
            </p:grpSpPr>
            <p:grpSp>
              <p:nvGrpSpPr>
                <p:cNvPr id="498" name="Google Shape;498;p15"/>
                <p:cNvGrpSpPr/>
                <p:nvPr/>
              </p:nvGrpSpPr>
              <p:grpSpPr>
                <a:xfrm>
                  <a:off x="4673664" y="2214101"/>
                  <a:ext cx="5036265" cy="4113315"/>
                  <a:chOff x="3825164" y="427026"/>
                  <a:chExt cx="5036265" cy="4113315"/>
                </a:xfrm>
              </p:grpSpPr>
              <p:sp>
                <p:nvSpPr>
                  <p:cNvPr id="499" name="Google Shape;499;p15"/>
                  <p:cNvSpPr/>
                  <p:nvPr/>
                </p:nvSpPr>
                <p:spPr>
                  <a:xfrm rot="157512">
                    <a:off x="6915828" y="473247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0" name="Google Shape;500;p15"/>
                  <p:cNvSpPr/>
                  <p:nvPr/>
                </p:nvSpPr>
                <p:spPr>
                  <a:xfrm rot="157512">
                    <a:off x="7541687" y="457392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1" name="Google Shape;501;p15"/>
                  <p:cNvSpPr/>
                  <p:nvPr/>
                </p:nvSpPr>
                <p:spPr>
                  <a:xfrm rot="157512">
                    <a:off x="8167572" y="441537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2" name="Google Shape;502;p15"/>
                  <p:cNvSpPr/>
                  <p:nvPr/>
                </p:nvSpPr>
                <p:spPr>
                  <a:xfrm rot="157512">
                    <a:off x="7242491" y="100735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8" y="22525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3" name="Google Shape;503;p15"/>
                  <p:cNvSpPr/>
                  <p:nvPr/>
                </p:nvSpPr>
                <p:spPr>
                  <a:xfrm rot="157512">
                    <a:off x="7868375" y="991501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4" name="Google Shape;504;p15"/>
                  <p:cNvSpPr/>
                  <p:nvPr/>
                </p:nvSpPr>
                <p:spPr>
                  <a:xfrm rot="157512">
                    <a:off x="6943294" y="1557320"/>
                    <a:ext cx="65016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5" y="1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2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5" name="Google Shape;505;p15"/>
                  <p:cNvSpPr/>
                  <p:nvPr/>
                </p:nvSpPr>
                <p:spPr>
                  <a:xfrm rot="157512">
                    <a:off x="7569154" y="1541466"/>
                    <a:ext cx="650217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4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6" name="Google Shape;506;p15"/>
                  <p:cNvSpPr/>
                  <p:nvPr/>
                </p:nvSpPr>
                <p:spPr>
                  <a:xfrm rot="157512">
                    <a:off x="8195039" y="1525586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7" name="Google Shape;507;p15"/>
                  <p:cNvSpPr/>
                  <p:nvPr/>
                </p:nvSpPr>
                <p:spPr>
                  <a:xfrm rot="157512">
                    <a:off x="4140535" y="2170703"/>
                    <a:ext cx="650217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0"/>
                        </a:lnTo>
                        <a:lnTo>
                          <a:pt x="1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8" name="Google Shape;508;p15"/>
                  <p:cNvSpPr/>
                  <p:nvPr/>
                </p:nvSpPr>
                <p:spPr>
                  <a:xfrm rot="157512">
                    <a:off x="4766419" y="215484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7" y="1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4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09" name="Google Shape;509;p15"/>
                  <p:cNvSpPr/>
                  <p:nvPr/>
                </p:nvSpPr>
                <p:spPr>
                  <a:xfrm rot="157512">
                    <a:off x="5392303" y="2138993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0" name="Google Shape;510;p15"/>
                  <p:cNvSpPr/>
                  <p:nvPr/>
                </p:nvSpPr>
                <p:spPr>
                  <a:xfrm rot="157512">
                    <a:off x="6018188" y="2123139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1" name="Google Shape;511;p15"/>
                  <p:cNvSpPr/>
                  <p:nvPr/>
                </p:nvSpPr>
                <p:spPr>
                  <a:xfrm rot="157512">
                    <a:off x="6644073" y="2107259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8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2" name="Google Shape;512;p15"/>
                  <p:cNvSpPr/>
                  <p:nvPr/>
                </p:nvSpPr>
                <p:spPr>
                  <a:xfrm rot="157512">
                    <a:off x="7269957" y="2091430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3" name="Google Shape;513;p15"/>
                  <p:cNvSpPr/>
                  <p:nvPr/>
                </p:nvSpPr>
                <p:spPr>
                  <a:xfrm rot="157512">
                    <a:off x="7895842" y="2075550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9" y="20743"/>
                        </a:moveTo>
                        <a:lnTo>
                          <a:pt x="24980" y="6322"/>
                        </a:lnTo>
                        <a:lnTo>
                          <a:pt x="11976" y="1"/>
                        </a:lnTo>
                        <a:lnTo>
                          <a:pt x="0" y="8102"/>
                        </a:lnTo>
                        <a:lnTo>
                          <a:pt x="1029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4" name="Google Shape;514;p15"/>
                  <p:cNvSpPr/>
                  <p:nvPr/>
                </p:nvSpPr>
                <p:spPr>
                  <a:xfrm rot="157512">
                    <a:off x="3841337" y="272066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0" y="6321"/>
                        </a:lnTo>
                        <a:lnTo>
                          <a:pt x="11975" y="0"/>
                        </a:lnTo>
                        <a:lnTo>
                          <a:pt x="0" y="8102"/>
                        </a:lnTo>
                        <a:lnTo>
                          <a:pt x="1029" y="22524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5" name="Google Shape;515;p15"/>
                  <p:cNvSpPr/>
                  <p:nvPr/>
                </p:nvSpPr>
                <p:spPr>
                  <a:xfrm rot="157512">
                    <a:off x="4467198" y="2704787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3"/>
                        </a:lnTo>
                        <a:lnTo>
                          <a:pt x="1030" y="22525"/>
                        </a:lnTo>
                        <a:lnTo>
                          <a:pt x="14033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6" name="Google Shape;516;p15"/>
                  <p:cNvSpPr/>
                  <p:nvPr/>
                </p:nvSpPr>
                <p:spPr>
                  <a:xfrm rot="157512">
                    <a:off x="5093107" y="2688958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3"/>
                        </a:moveTo>
                        <a:lnTo>
                          <a:pt x="24980" y="6320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7" name="Google Shape;517;p15"/>
                  <p:cNvSpPr/>
                  <p:nvPr/>
                </p:nvSpPr>
                <p:spPr>
                  <a:xfrm rot="157512">
                    <a:off x="5718992" y="2673103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1"/>
                        </a:lnTo>
                        <a:lnTo>
                          <a:pt x="1028" y="22524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8" name="Google Shape;518;p15"/>
                  <p:cNvSpPr/>
                  <p:nvPr/>
                </p:nvSpPr>
                <p:spPr>
                  <a:xfrm rot="157512">
                    <a:off x="6344876" y="2657223"/>
                    <a:ext cx="65016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8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5" y="1"/>
                        </a:lnTo>
                        <a:lnTo>
                          <a:pt x="0" y="8103"/>
                        </a:lnTo>
                        <a:lnTo>
                          <a:pt x="1028" y="22525"/>
                        </a:lnTo>
                        <a:lnTo>
                          <a:pt x="14032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19" name="Google Shape;519;p15"/>
                  <p:cNvSpPr/>
                  <p:nvPr/>
                </p:nvSpPr>
                <p:spPr>
                  <a:xfrm rot="157512">
                    <a:off x="6970736" y="2641369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3"/>
                        </a:moveTo>
                        <a:lnTo>
                          <a:pt x="24981" y="6321"/>
                        </a:lnTo>
                        <a:lnTo>
                          <a:pt x="11976" y="0"/>
                        </a:lnTo>
                        <a:lnTo>
                          <a:pt x="1" y="8102"/>
                        </a:lnTo>
                        <a:lnTo>
                          <a:pt x="1029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0" name="Google Shape;520;p15"/>
                  <p:cNvSpPr/>
                  <p:nvPr/>
                </p:nvSpPr>
                <p:spPr>
                  <a:xfrm rot="157512">
                    <a:off x="4168001" y="3254751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09" y="20744"/>
                        </a:moveTo>
                        <a:lnTo>
                          <a:pt x="24980" y="6322"/>
                        </a:lnTo>
                        <a:lnTo>
                          <a:pt x="11977" y="1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1" name="Google Shape;521;p15"/>
                  <p:cNvSpPr/>
                  <p:nvPr/>
                </p:nvSpPr>
                <p:spPr>
                  <a:xfrm rot="157512">
                    <a:off x="4793885" y="3238896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9" y="20743"/>
                        </a:moveTo>
                        <a:lnTo>
                          <a:pt x="24981" y="6321"/>
                        </a:lnTo>
                        <a:lnTo>
                          <a:pt x="11977" y="0"/>
                        </a:lnTo>
                        <a:lnTo>
                          <a:pt x="0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2" name="Google Shape;522;p15"/>
                  <p:cNvSpPr/>
                  <p:nvPr/>
                </p:nvSpPr>
                <p:spPr>
                  <a:xfrm rot="157512">
                    <a:off x="5419770" y="3223067"/>
                    <a:ext cx="650192" cy="721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4" fill="none" extrusionOk="0">
                        <a:moveTo>
                          <a:pt x="26009" y="20743"/>
                        </a:moveTo>
                        <a:lnTo>
                          <a:pt x="24981" y="6320"/>
                        </a:lnTo>
                        <a:lnTo>
                          <a:pt x="11976" y="0"/>
                        </a:lnTo>
                        <a:lnTo>
                          <a:pt x="1" y="8101"/>
                        </a:lnTo>
                        <a:lnTo>
                          <a:pt x="1029" y="22523"/>
                        </a:lnTo>
                        <a:lnTo>
                          <a:pt x="14033" y="28844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3" name="Google Shape;523;p15"/>
                  <p:cNvSpPr/>
                  <p:nvPr/>
                </p:nvSpPr>
                <p:spPr>
                  <a:xfrm rot="157512">
                    <a:off x="6045654" y="3207187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2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4" name="Google Shape;524;p15"/>
                  <p:cNvSpPr/>
                  <p:nvPr/>
                </p:nvSpPr>
                <p:spPr>
                  <a:xfrm rot="157512">
                    <a:off x="3868779" y="3804714"/>
                    <a:ext cx="650217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10" h="28846" fill="none" extrusionOk="0">
                        <a:moveTo>
                          <a:pt x="26010" y="20744"/>
                        </a:moveTo>
                        <a:lnTo>
                          <a:pt x="24982" y="6322"/>
                        </a:lnTo>
                        <a:lnTo>
                          <a:pt x="11977" y="1"/>
                        </a:lnTo>
                        <a:lnTo>
                          <a:pt x="1" y="8102"/>
                        </a:lnTo>
                        <a:lnTo>
                          <a:pt x="1030" y="22525"/>
                        </a:lnTo>
                        <a:lnTo>
                          <a:pt x="14034" y="28846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5" name="Google Shape;525;p15"/>
                  <p:cNvSpPr/>
                  <p:nvPr/>
                </p:nvSpPr>
                <p:spPr>
                  <a:xfrm rot="157512">
                    <a:off x="4494689" y="3788860"/>
                    <a:ext cx="650192" cy="72111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6" fill="none" extrusionOk="0">
                        <a:moveTo>
                          <a:pt x="26008" y="20743"/>
                        </a:moveTo>
                        <a:lnTo>
                          <a:pt x="24980" y="6321"/>
                        </a:lnTo>
                        <a:lnTo>
                          <a:pt x="11976" y="1"/>
                        </a:lnTo>
                        <a:lnTo>
                          <a:pt x="1" y="8103"/>
                        </a:lnTo>
                        <a:lnTo>
                          <a:pt x="1029" y="22525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26" name="Google Shape;526;p15"/>
                  <p:cNvSpPr/>
                  <p:nvPr/>
                </p:nvSpPr>
                <p:spPr>
                  <a:xfrm rot="157512">
                    <a:off x="5120574" y="3773006"/>
                    <a:ext cx="650192" cy="7210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09" h="28845" fill="none" extrusionOk="0">
                        <a:moveTo>
                          <a:pt x="26008" y="20744"/>
                        </a:moveTo>
                        <a:lnTo>
                          <a:pt x="24980" y="6321"/>
                        </a:lnTo>
                        <a:lnTo>
                          <a:pt x="11976" y="0"/>
                        </a:lnTo>
                        <a:lnTo>
                          <a:pt x="0" y="8102"/>
                        </a:lnTo>
                        <a:lnTo>
                          <a:pt x="1028" y="22524"/>
                        </a:lnTo>
                        <a:lnTo>
                          <a:pt x="14033" y="28845"/>
                        </a:lnTo>
                        <a:close/>
                      </a:path>
                    </a:pathLst>
                  </a:custGeom>
                  <a:noFill/>
                  <a:ln w="7725" cap="flat" cmpd="sng">
                    <a:solidFill>
                      <a:schemeClr val="dk2"/>
                    </a:solidFill>
                    <a:prstDash val="solid"/>
                    <a:miter lim="102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27" name="Google Shape;527;p15"/>
                <p:cNvSpPr/>
                <p:nvPr/>
              </p:nvSpPr>
              <p:spPr>
                <a:xfrm rot="157512">
                  <a:off x="6228998" y="4446717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1"/>
                        <a:pt x="1142" y="2281"/>
                      </a:cubicBezTo>
                      <a:cubicBezTo>
                        <a:pt x="1772" y="2281"/>
                        <a:pt x="2283" y="1772"/>
                        <a:pt x="2283" y="1141"/>
                      </a:cubicBezTo>
                      <a:cubicBezTo>
                        <a:pt x="2283" y="511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8" name="Google Shape;528;p15"/>
                <p:cNvSpPr/>
                <p:nvPr/>
              </p:nvSpPr>
              <p:spPr>
                <a:xfrm rot="157512">
                  <a:off x="9351770" y="4005108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1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2"/>
                        <a:pt x="511" y="2282"/>
                        <a:pt x="1141" y="2282"/>
                      </a:cubicBezTo>
                      <a:cubicBezTo>
                        <a:pt x="1771" y="2282"/>
                        <a:pt x="2281" y="1772"/>
                        <a:pt x="2281" y="1141"/>
                      </a:cubicBezTo>
                      <a:cubicBezTo>
                        <a:pt x="2281" y="511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29" name="Google Shape;529;p15"/>
                <p:cNvSpPr/>
                <p:nvPr/>
              </p:nvSpPr>
              <p:spPr>
                <a:xfrm rot="157512">
                  <a:off x="8403706" y="3847890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0" name="Google Shape;530;p15"/>
                <p:cNvSpPr/>
                <p:nvPr/>
              </p:nvSpPr>
              <p:spPr>
                <a:xfrm rot="157512">
                  <a:off x="8124633" y="5115580"/>
                  <a:ext cx="57047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2" extrusionOk="0">
                      <a:moveTo>
                        <a:pt x="1140" y="0"/>
                      </a:moveTo>
                      <a:cubicBezTo>
                        <a:pt x="511" y="0"/>
                        <a:pt x="0" y="511"/>
                        <a:pt x="0" y="1141"/>
                      </a:cubicBezTo>
                      <a:cubicBezTo>
                        <a:pt x="0" y="1771"/>
                        <a:pt x="510" y="2281"/>
                        <a:pt x="1140" y="2281"/>
                      </a:cubicBezTo>
                      <a:cubicBezTo>
                        <a:pt x="1771" y="2281"/>
                        <a:pt x="2281" y="1771"/>
                        <a:pt x="2281" y="1141"/>
                      </a:cubicBezTo>
                      <a:cubicBezTo>
                        <a:pt x="2281" y="511"/>
                        <a:pt x="1771" y="0"/>
                        <a:pt x="1140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1" name="Google Shape;531;p15"/>
                <p:cNvSpPr/>
                <p:nvPr/>
              </p:nvSpPr>
              <p:spPr>
                <a:xfrm rot="157512">
                  <a:off x="6574005" y="5703526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1"/>
                      </a:moveTo>
                      <a:cubicBezTo>
                        <a:pt x="511" y="1"/>
                        <a:pt x="0" y="511"/>
                        <a:pt x="0" y="1141"/>
                      </a:cubicBezTo>
                      <a:cubicBezTo>
                        <a:pt x="0" y="1771"/>
                        <a:pt x="511" y="2282"/>
                        <a:pt x="1141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1"/>
                        <a:pt x="1141" y="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2" name="Google Shape;532;p15"/>
                <p:cNvSpPr/>
                <p:nvPr/>
              </p:nvSpPr>
              <p:spPr>
                <a:xfrm rot="157512">
                  <a:off x="5957267" y="6080755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1" y="0"/>
                      </a:moveTo>
                      <a:cubicBezTo>
                        <a:pt x="511" y="0"/>
                        <a:pt x="0" y="510"/>
                        <a:pt x="0" y="1140"/>
                      </a:cubicBezTo>
                      <a:cubicBezTo>
                        <a:pt x="0" y="1770"/>
                        <a:pt x="511" y="2281"/>
                        <a:pt x="1141" y="2281"/>
                      </a:cubicBezTo>
                      <a:cubicBezTo>
                        <a:pt x="1771" y="2281"/>
                        <a:pt x="2282" y="1770"/>
                        <a:pt x="2282" y="1140"/>
                      </a:cubicBezTo>
                      <a:cubicBezTo>
                        <a:pt x="2282" y="510"/>
                        <a:pt x="1771" y="0"/>
                        <a:pt x="1141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3" name="Google Shape;533;p15"/>
                <p:cNvSpPr/>
                <p:nvPr/>
              </p:nvSpPr>
              <p:spPr>
                <a:xfrm rot="157512">
                  <a:off x="5929801" y="4996682"/>
                  <a:ext cx="57072" cy="570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3" h="2282" extrusionOk="0">
                      <a:moveTo>
                        <a:pt x="1142" y="0"/>
                      </a:moveTo>
                      <a:cubicBezTo>
                        <a:pt x="511" y="0"/>
                        <a:pt x="1" y="510"/>
                        <a:pt x="1" y="1140"/>
                      </a:cubicBezTo>
                      <a:cubicBezTo>
                        <a:pt x="1" y="1771"/>
                        <a:pt x="511" y="2281"/>
                        <a:pt x="1142" y="2281"/>
                      </a:cubicBezTo>
                      <a:cubicBezTo>
                        <a:pt x="1772" y="2281"/>
                        <a:pt x="2283" y="1771"/>
                        <a:pt x="2283" y="1140"/>
                      </a:cubicBezTo>
                      <a:cubicBezTo>
                        <a:pt x="2283" y="510"/>
                        <a:pt x="1772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34" name="Google Shape;534;p15"/>
                <p:cNvSpPr/>
                <p:nvPr/>
              </p:nvSpPr>
              <p:spPr>
                <a:xfrm rot="157512">
                  <a:off x="9015730" y="3465389"/>
                  <a:ext cx="57047" cy="5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82" h="2283" extrusionOk="0">
                      <a:moveTo>
                        <a:pt x="1142" y="0"/>
                      </a:moveTo>
                      <a:cubicBezTo>
                        <a:pt x="512" y="0"/>
                        <a:pt x="1" y="511"/>
                        <a:pt x="1" y="1141"/>
                      </a:cubicBezTo>
                      <a:cubicBezTo>
                        <a:pt x="1" y="1771"/>
                        <a:pt x="512" y="2282"/>
                        <a:pt x="1142" y="2282"/>
                      </a:cubicBezTo>
                      <a:cubicBezTo>
                        <a:pt x="1771" y="2282"/>
                        <a:pt x="2282" y="1771"/>
                        <a:pt x="2282" y="1141"/>
                      </a:cubicBezTo>
                      <a:cubicBezTo>
                        <a:pt x="2282" y="511"/>
                        <a:pt x="1771" y="0"/>
                        <a:pt x="1142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35" name="Google Shape;535;p15"/>
            <p:cNvSpPr/>
            <p:nvPr/>
          </p:nvSpPr>
          <p:spPr>
            <a:xfrm rot="157512">
              <a:off x="8799542" y="3225845"/>
              <a:ext cx="57022" cy="57072"/>
            </a:xfrm>
            <a:custGeom>
              <a:avLst/>
              <a:gdLst/>
              <a:ahLst/>
              <a:cxnLst/>
              <a:rect l="l" t="t" r="r" b="b"/>
              <a:pathLst>
                <a:path w="2281" h="2283" extrusionOk="0">
                  <a:moveTo>
                    <a:pt x="1141" y="1"/>
                  </a:moveTo>
                  <a:cubicBezTo>
                    <a:pt x="511" y="1"/>
                    <a:pt x="0" y="512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1" y="1772"/>
                    <a:pt x="2281" y="1142"/>
                  </a:cubicBezTo>
                  <a:cubicBezTo>
                    <a:pt x="2281" y="512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15"/>
            <p:cNvSpPr/>
            <p:nvPr/>
          </p:nvSpPr>
          <p:spPr>
            <a:xfrm rot="157512">
              <a:off x="5710335" y="4761896"/>
              <a:ext cx="57072" cy="57072"/>
            </a:xfrm>
            <a:custGeom>
              <a:avLst/>
              <a:gdLst/>
              <a:ahLst/>
              <a:cxnLst/>
              <a:rect l="l" t="t" r="r" b="b"/>
              <a:pathLst>
                <a:path w="2283" h="2283" extrusionOk="0">
                  <a:moveTo>
                    <a:pt x="1141" y="1"/>
                  </a:moveTo>
                  <a:cubicBezTo>
                    <a:pt x="511" y="1"/>
                    <a:pt x="0" y="511"/>
                    <a:pt x="0" y="1142"/>
                  </a:cubicBezTo>
                  <a:cubicBezTo>
                    <a:pt x="0" y="1772"/>
                    <a:pt x="511" y="2283"/>
                    <a:pt x="1141" y="2283"/>
                  </a:cubicBezTo>
                  <a:cubicBezTo>
                    <a:pt x="1771" y="2283"/>
                    <a:pt x="2282" y="1772"/>
                    <a:pt x="2282" y="1142"/>
                  </a:cubicBezTo>
                  <a:cubicBezTo>
                    <a:pt x="2282" y="511"/>
                    <a:pt x="1771" y="1"/>
                    <a:pt x="114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15"/>
            <p:cNvSpPr/>
            <p:nvPr/>
          </p:nvSpPr>
          <p:spPr>
            <a:xfrm rot="157512">
              <a:off x="7885492" y="4168682"/>
              <a:ext cx="57047" cy="57047"/>
            </a:xfrm>
            <a:custGeom>
              <a:avLst/>
              <a:gdLst/>
              <a:ahLst/>
              <a:cxnLst/>
              <a:rect l="l" t="t" r="r" b="b"/>
              <a:pathLst>
                <a:path w="2282" h="2282" extrusionOk="0">
                  <a:moveTo>
                    <a:pt x="1141" y="0"/>
                  </a:moveTo>
                  <a:cubicBezTo>
                    <a:pt x="511" y="0"/>
                    <a:pt x="0" y="511"/>
                    <a:pt x="0" y="1141"/>
                  </a:cubicBezTo>
                  <a:cubicBezTo>
                    <a:pt x="0" y="1770"/>
                    <a:pt x="511" y="2281"/>
                    <a:pt x="1141" y="2281"/>
                  </a:cubicBezTo>
                  <a:cubicBezTo>
                    <a:pt x="1772" y="2281"/>
                    <a:pt x="2281" y="1770"/>
                    <a:pt x="2281" y="1141"/>
                  </a:cubicBezTo>
                  <a:cubicBezTo>
                    <a:pt x="2281" y="511"/>
                    <a:pt x="1772" y="0"/>
                    <a:pt x="114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" name="Imagine 1">
            <a:extLst>
              <a:ext uri="{FF2B5EF4-FFF2-40B4-BE49-F238E27FC236}">
                <a16:creationId xmlns:a16="http://schemas.microsoft.com/office/drawing/2014/main" id="{C39281E2-BB9E-EBBA-CFBB-6B97CDA92CC0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24679" t="18543" r="25300" b="17092"/>
          <a:stretch>
            <a:fillRect/>
          </a:stretch>
        </p:blipFill>
        <p:spPr>
          <a:xfrm>
            <a:off x="7241152" y="1835910"/>
            <a:ext cx="1630018" cy="20601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1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o-RO" u="sng" dirty="0"/>
              <a:t>P</a:t>
            </a:r>
            <a:r>
              <a:rPr lang="en-US" u="sng" dirty="0" err="1"/>
              <a:t>robleme</a:t>
            </a:r>
            <a:endParaRPr u="sng" dirty="0"/>
          </a:p>
        </p:txBody>
      </p:sp>
      <p:sp>
        <p:nvSpPr>
          <p:cNvPr id="556" name="Google Shape;556;p17"/>
          <p:cNvSpPr txBox="1"/>
          <p:nvPr/>
        </p:nvSpPr>
        <p:spPr>
          <a:xfrm>
            <a:off x="5450541" y="2268150"/>
            <a:ext cx="258822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PHISHING &amp; LINK-URI</a:t>
            </a:r>
            <a:r>
              <a:rPr lang="en-US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sz="21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suspecte</a:t>
            </a:r>
            <a:endParaRPr lang="ro-RO"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557" name="Google Shape;557;p17"/>
          <p:cNvSpPr txBox="1"/>
          <p:nvPr/>
        </p:nvSpPr>
        <p:spPr>
          <a:xfrm>
            <a:off x="369239" y="3757276"/>
            <a:ext cx="310971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PROTECȚIE Business Email </a:t>
            </a:r>
            <a:r>
              <a:rPr lang="en-US" sz="21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Compromis</a:t>
            </a:r>
            <a:r>
              <a:rPr lang="en-US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(BEC)</a:t>
            </a:r>
          </a:p>
        </p:txBody>
      </p:sp>
      <p:sp>
        <p:nvSpPr>
          <p:cNvPr id="558" name="Google Shape;558;p17"/>
          <p:cNvSpPr txBox="1"/>
          <p:nvPr/>
        </p:nvSpPr>
        <p:spPr>
          <a:xfrm>
            <a:off x="5164508" y="3407550"/>
            <a:ext cx="287425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SPOOFING </a:t>
            </a:r>
          </a:p>
        </p:txBody>
      </p:sp>
      <p:sp>
        <p:nvSpPr>
          <p:cNvPr id="559" name="Google Shape;559;p17"/>
          <p:cNvSpPr txBox="1"/>
          <p:nvPr/>
        </p:nvSpPr>
        <p:spPr>
          <a:xfrm>
            <a:off x="240118" y="1843551"/>
            <a:ext cx="287425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Prompt </a:t>
            </a:r>
            <a:r>
              <a:rPr lang="ro-RO" sz="21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Injection</a:t>
            </a:r>
            <a:r>
              <a:rPr lang="ro-RO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:</a:t>
            </a:r>
          </a:p>
        </p:txBody>
      </p:sp>
      <p:cxnSp>
        <p:nvCxnSpPr>
          <p:cNvPr id="560" name="Google Shape;560;p17"/>
          <p:cNvCxnSpPr>
            <a:cxnSpLocks/>
          </p:cNvCxnSpPr>
          <p:nvPr/>
        </p:nvCxnSpPr>
        <p:spPr>
          <a:xfrm flipH="1">
            <a:off x="3231155" y="2800350"/>
            <a:ext cx="495600" cy="607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2" name="Google Shape;562;p17"/>
          <p:cNvCxnSpPr>
            <a:cxnSpLocks/>
          </p:cNvCxnSpPr>
          <p:nvPr/>
        </p:nvCxnSpPr>
        <p:spPr>
          <a:xfrm rot="10800000">
            <a:off x="3231155" y="2193150"/>
            <a:ext cx="495600" cy="607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3" name="Google Shape;563;p17"/>
          <p:cNvCxnSpPr>
            <a:cxnSpLocks/>
          </p:cNvCxnSpPr>
          <p:nvPr/>
        </p:nvCxnSpPr>
        <p:spPr>
          <a:xfrm>
            <a:off x="5078259" y="2800350"/>
            <a:ext cx="495300" cy="607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64" name="Google Shape;564;p17"/>
          <p:cNvCxnSpPr>
            <a:cxnSpLocks/>
          </p:cNvCxnSpPr>
          <p:nvPr/>
        </p:nvCxnSpPr>
        <p:spPr>
          <a:xfrm rot="10800000" flipH="1">
            <a:off x="5078259" y="2193150"/>
            <a:ext cx="495300" cy="607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" name="Google Shape;560;p17">
            <a:extLst>
              <a:ext uri="{FF2B5EF4-FFF2-40B4-BE49-F238E27FC236}">
                <a16:creationId xmlns:a16="http://schemas.microsoft.com/office/drawing/2014/main" id="{0FB3ADEC-FE27-CFD8-A935-D85DBE8A8965}"/>
              </a:ext>
            </a:extLst>
          </p:cNvPr>
          <p:cNvCxnSpPr>
            <a:cxnSpLocks/>
          </p:cNvCxnSpPr>
          <p:nvPr/>
        </p:nvCxnSpPr>
        <p:spPr>
          <a:xfrm rot="5400000">
            <a:off x="3318163" y="1810935"/>
            <a:ext cx="1456398" cy="522432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" name="Google Shape;560;p17">
            <a:extLst>
              <a:ext uri="{FF2B5EF4-FFF2-40B4-BE49-F238E27FC236}">
                <a16:creationId xmlns:a16="http://schemas.microsoft.com/office/drawing/2014/main" id="{ABA04C0B-5921-EC98-0773-D2F5EF54F235}"/>
              </a:ext>
            </a:extLst>
          </p:cNvPr>
          <p:cNvCxnSpPr>
            <a:cxnSpLocks/>
          </p:cNvCxnSpPr>
          <p:nvPr/>
        </p:nvCxnSpPr>
        <p:spPr>
          <a:xfrm rot="16200000" flipH="1">
            <a:off x="3984293" y="1784020"/>
            <a:ext cx="1456400" cy="57626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4"/>
          <p:cNvSpPr txBox="1">
            <a:spLocks noGrp="1"/>
          </p:cNvSpPr>
          <p:nvPr>
            <p:ph type="title"/>
          </p:nvPr>
        </p:nvSpPr>
        <p:spPr>
          <a:xfrm>
            <a:off x="719848" y="400851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Solutii</a:t>
            </a:r>
            <a:endParaRPr u="sng" dirty="0"/>
          </a:p>
        </p:txBody>
      </p:sp>
      <p:cxnSp>
        <p:nvCxnSpPr>
          <p:cNvPr id="754" name="Google Shape;754;p24"/>
          <p:cNvCxnSpPr>
            <a:cxnSpLocks/>
          </p:cNvCxnSpPr>
          <p:nvPr/>
        </p:nvCxnSpPr>
        <p:spPr>
          <a:xfrm>
            <a:off x="1240751" y="2583372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813" name="Google Shape;813;p24"/>
          <p:cNvCxnSpPr>
            <a:cxnSpLocks/>
          </p:cNvCxnSpPr>
          <p:nvPr/>
        </p:nvCxnSpPr>
        <p:spPr>
          <a:xfrm>
            <a:off x="2358375" y="1814926"/>
            <a:ext cx="890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17" name="Google Shape;817;p24"/>
          <p:cNvSpPr txBox="1"/>
          <p:nvPr/>
        </p:nvSpPr>
        <p:spPr>
          <a:xfrm>
            <a:off x="5779751" y="3923915"/>
            <a:ext cx="19860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752;p24">
            <a:extLst>
              <a:ext uri="{FF2B5EF4-FFF2-40B4-BE49-F238E27FC236}">
                <a16:creationId xmlns:a16="http://schemas.microsoft.com/office/drawing/2014/main" id="{415C6C1E-236C-F798-FB3E-F9652319EE6B}"/>
              </a:ext>
            </a:extLst>
          </p:cNvPr>
          <p:cNvSpPr/>
          <p:nvPr/>
        </p:nvSpPr>
        <p:spPr>
          <a:xfrm rot="5400000">
            <a:off x="524766" y="909226"/>
            <a:ext cx="1431970" cy="18925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6" name="Google Shape;813;p24">
            <a:extLst>
              <a:ext uri="{FF2B5EF4-FFF2-40B4-BE49-F238E27FC236}">
                <a16:creationId xmlns:a16="http://schemas.microsoft.com/office/drawing/2014/main" id="{8C5CB25D-3AFD-6E03-17B0-1471AF4577BC}"/>
              </a:ext>
            </a:extLst>
          </p:cNvPr>
          <p:cNvCxnSpPr>
            <a:cxnSpLocks/>
          </p:cNvCxnSpPr>
          <p:nvPr/>
        </p:nvCxnSpPr>
        <p:spPr>
          <a:xfrm>
            <a:off x="5586795" y="1814926"/>
            <a:ext cx="890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8" name="Google Shape;752;p24">
            <a:extLst>
              <a:ext uri="{FF2B5EF4-FFF2-40B4-BE49-F238E27FC236}">
                <a16:creationId xmlns:a16="http://schemas.microsoft.com/office/drawing/2014/main" id="{F7904424-D4E5-2738-B211-2FB28DBAF1F7}"/>
              </a:ext>
            </a:extLst>
          </p:cNvPr>
          <p:cNvSpPr/>
          <p:nvPr/>
        </p:nvSpPr>
        <p:spPr>
          <a:xfrm rot="5400000">
            <a:off x="3701713" y="868674"/>
            <a:ext cx="1431970" cy="18925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" name="Google Shape;752;p24">
            <a:extLst>
              <a:ext uri="{FF2B5EF4-FFF2-40B4-BE49-F238E27FC236}">
                <a16:creationId xmlns:a16="http://schemas.microsoft.com/office/drawing/2014/main" id="{90355068-75F1-3FC9-A2CB-BA9BD62AC037}"/>
              </a:ext>
            </a:extLst>
          </p:cNvPr>
          <p:cNvSpPr/>
          <p:nvPr/>
        </p:nvSpPr>
        <p:spPr>
          <a:xfrm rot="5400000">
            <a:off x="7003017" y="902869"/>
            <a:ext cx="1431970" cy="18925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" name="CasetăText 9">
            <a:extLst>
              <a:ext uri="{FF2B5EF4-FFF2-40B4-BE49-F238E27FC236}">
                <a16:creationId xmlns:a16="http://schemas.microsoft.com/office/drawing/2014/main" id="{20CC58F9-CA9F-C904-3C4B-3C107A0D00B6}"/>
              </a:ext>
            </a:extLst>
          </p:cNvPr>
          <p:cNvSpPr txBox="1"/>
          <p:nvPr/>
        </p:nvSpPr>
        <p:spPr>
          <a:xfrm>
            <a:off x="3419972" y="1301989"/>
            <a:ext cx="2023402" cy="92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Fraudele Business Email Compromise </a:t>
            </a:r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85A1E203-C282-4F17-A653-A9FCFE4D00DF}"/>
              </a:ext>
            </a:extLst>
          </p:cNvPr>
          <p:cNvSpPr txBox="1"/>
          <p:nvPr/>
        </p:nvSpPr>
        <p:spPr>
          <a:xfrm>
            <a:off x="6732195" y="1494004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Prompt </a:t>
            </a: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injection</a:t>
            </a:r>
            <a:endParaRPr lang="ro-RO"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3" name="CasetăText 2">
            <a:extLst>
              <a:ext uri="{FF2B5EF4-FFF2-40B4-BE49-F238E27FC236}">
                <a16:creationId xmlns:a16="http://schemas.microsoft.com/office/drawing/2014/main" id="{90324A76-8483-DE39-5233-50B9F025F3C4}"/>
              </a:ext>
            </a:extLst>
          </p:cNvPr>
          <p:cNvSpPr txBox="1"/>
          <p:nvPr/>
        </p:nvSpPr>
        <p:spPr>
          <a:xfrm>
            <a:off x="207386" y="1564503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Phishing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&amp;</a:t>
            </a: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Spoofing</a:t>
            </a: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</a:p>
        </p:txBody>
      </p:sp>
      <p:sp>
        <p:nvSpPr>
          <p:cNvPr id="13" name="CasetăText 12">
            <a:extLst>
              <a:ext uri="{FF2B5EF4-FFF2-40B4-BE49-F238E27FC236}">
                <a16:creationId xmlns:a16="http://schemas.microsoft.com/office/drawing/2014/main" id="{4331EA04-33DC-4EA0-BD16-9088DF2DA1D3}"/>
              </a:ext>
            </a:extLst>
          </p:cNvPr>
          <p:cNvSpPr txBox="1"/>
          <p:nvPr/>
        </p:nvSpPr>
        <p:spPr>
          <a:xfrm>
            <a:off x="207386" y="3006666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analiza linkurilor </a:t>
            </a:r>
          </a:p>
        </p:txBody>
      </p:sp>
      <p:cxnSp>
        <p:nvCxnSpPr>
          <p:cNvPr id="14" name="Google Shape;754;p24">
            <a:extLst>
              <a:ext uri="{FF2B5EF4-FFF2-40B4-BE49-F238E27FC236}">
                <a16:creationId xmlns:a16="http://schemas.microsoft.com/office/drawing/2014/main" id="{328E4342-BE70-8CF4-DEEB-A8E381664871}"/>
              </a:ext>
            </a:extLst>
          </p:cNvPr>
          <p:cNvCxnSpPr>
            <a:cxnSpLocks/>
          </p:cNvCxnSpPr>
          <p:nvPr/>
        </p:nvCxnSpPr>
        <p:spPr>
          <a:xfrm>
            <a:off x="1240751" y="3744768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5" name="CasetăText 14">
            <a:extLst>
              <a:ext uri="{FF2B5EF4-FFF2-40B4-BE49-F238E27FC236}">
                <a16:creationId xmlns:a16="http://schemas.microsoft.com/office/drawing/2014/main" id="{5468CF9F-5025-1D5A-A456-4E06D2150FEA}"/>
              </a:ext>
            </a:extLst>
          </p:cNvPr>
          <p:cNvSpPr txBox="1"/>
          <p:nvPr/>
        </p:nvSpPr>
        <p:spPr>
          <a:xfrm>
            <a:off x="207386" y="4153361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</a:t>
            </a: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vertizarea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utilizatorului</a:t>
            </a:r>
            <a:endParaRPr lang="ro-RO"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7" name="Google Shape;754;p24">
            <a:extLst>
              <a:ext uri="{FF2B5EF4-FFF2-40B4-BE49-F238E27FC236}">
                <a16:creationId xmlns:a16="http://schemas.microsoft.com/office/drawing/2014/main" id="{BA95284A-557D-3C8C-8781-9AD6E421851B}"/>
              </a:ext>
            </a:extLst>
          </p:cNvPr>
          <p:cNvCxnSpPr>
            <a:cxnSpLocks/>
          </p:cNvCxnSpPr>
          <p:nvPr/>
        </p:nvCxnSpPr>
        <p:spPr>
          <a:xfrm>
            <a:off x="4417698" y="2530911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18" name="CasetăText 17">
            <a:extLst>
              <a:ext uri="{FF2B5EF4-FFF2-40B4-BE49-F238E27FC236}">
                <a16:creationId xmlns:a16="http://schemas.microsoft.com/office/drawing/2014/main" id="{AC6A0FC7-0DDB-746B-C99E-254AF9AD5DE6}"/>
              </a:ext>
            </a:extLst>
          </p:cNvPr>
          <p:cNvSpPr txBox="1"/>
          <p:nvPr/>
        </p:nvSpPr>
        <p:spPr>
          <a:xfrm>
            <a:off x="3444959" y="2859457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analiza conținutului </a:t>
            </a:r>
          </a:p>
        </p:txBody>
      </p:sp>
      <p:cxnSp>
        <p:nvCxnSpPr>
          <p:cNvPr id="20" name="Google Shape;754;p24">
            <a:extLst>
              <a:ext uri="{FF2B5EF4-FFF2-40B4-BE49-F238E27FC236}">
                <a16:creationId xmlns:a16="http://schemas.microsoft.com/office/drawing/2014/main" id="{A13D1C9E-5E35-F712-47F9-5FEED03CC418}"/>
              </a:ext>
            </a:extLst>
          </p:cNvPr>
          <p:cNvCxnSpPr>
            <a:cxnSpLocks/>
          </p:cNvCxnSpPr>
          <p:nvPr/>
        </p:nvCxnSpPr>
        <p:spPr>
          <a:xfrm>
            <a:off x="4431673" y="3723319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21" name="Google Shape;754;p24">
            <a:extLst>
              <a:ext uri="{FF2B5EF4-FFF2-40B4-BE49-F238E27FC236}">
                <a16:creationId xmlns:a16="http://schemas.microsoft.com/office/drawing/2014/main" id="{CF64A966-CAFE-10B3-C012-5B45C0EB161A}"/>
              </a:ext>
            </a:extLst>
          </p:cNvPr>
          <p:cNvCxnSpPr>
            <a:cxnSpLocks/>
          </p:cNvCxnSpPr>
          <p:nvPr/>
        </p:nvCxnSpPr>
        <p:spPr>
          <a:xfrm>
            <a:off x="7715898" y="2571463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2" name="CasetăText 21">
            <a:extLst>
              <a:ext uri="{FF2B5EF4-FFF2-40B4-BE49-F238E27FC236}">
                <a16:creationId xmlns:a16="http://schemas.microsoft.com/office/drawing/2014/main" id="{C72263F4-E6A6-22D3-44FD-F107C9DBAAD4}"/>
              </a:ext>
            </a:extLst>
          </p:cNvPr>
          <p:cNvSpPr txBox="1"/>
          <p:nvPr/>
        </p:nvSpPr>
        <p:spPr>
          <a:xfrm>
            <a:off x="6641852" y="2987987"/>
            <a:ext cx="2023402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scaneaza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mailul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endParaRPr lang="ro-RO"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23" name="Google Shape;754;p24">
            <a:extLst>
              <a:ext uri="{FF2B5EF4-FFF2-40B4-BE49-F238E27FC236}">
                <a16:creationId xmlns:a16="http://schemas.microsoft.com/office/drawing/2014/main" id="{1AACB124-7A5C-5838-72CB-9D27B2C64241}"/>
              </a:ext>
            </a:extLst>
          </p:cNvPr>
          <p:cNvCxnSpPr>
            <a:cxnSpLocks/>
          </p:cNvCxnSpPr>
          <p:nvPr/>
        </p:nvCxnSpPr>
        <p:spPr>
          <a:xfrm>
            <a:off x="7761947" y="3645174"/>
            <a:ext cx="0" cy="323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sp>
        <p:nvSpPr>
          <p:cNvPr id="24" name="CasetăText 23">
            <a:extLst>
              <a:ext uri="{FF2B5EF4-FFF2-40B4-BE49-F238E27FC236}">
                <a16:creationId xmlns:a16="http://schemas.microsoft.com/office/drawing/2014/main" id="{1C1D1549-3F07-3D43-4FA4-E9B5433BCD4C}"/>
              </a:ext>
            </a:extLst>
          </p:cNvPr>
          <p:cNvSpPr txBox="1"/>
          <p:nvPr/>
        </p:nvSpPr>
        <p:spPr>
          <a:xfrm>
            <a:off x="6704197" y="4082488"/>
            <a:ext cx="2023402" cy="921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blochează instrucțiunile riscante</a:t>
            </a:r>
          </a:p>
        </p:txBody>
      </p:sp>
      <p:sp>
        <p:nvSpPr>
          <p:cNvPr id="25" name="CasetăText 24">
            <a:extLst>
              <a:ext uri="{FF2B5EF4-FFF2-40B4-BE49-F238E27FC236}">
                <a16:creationId xmlns:a16="http://schemas.microsoft.com/office/drawing/2014/main" id="{C1ED1658-867B-47CC-6331-70DC40844CCA}"/>
              </a:ext>
            </a:extLst>
          </p:cNvPr>
          <p:cNvSpPr txBox="1"/>
          <p:nvPr/>
        </p:nvSpPr>
        <p:spPr>
          <a:xfrm>
            <a:off x="3364250" y="4201942"/>
            <a:ext cx="2023402" cy="63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</a:t>
            </a:r>
            <a:r>
              <a:rPr lang="ro-RO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vertizarea</a:t>
            </a:r>
            <a:r>
              <a:rPr lang="en-US" sz="16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sz="1600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automată</a:t>
            </a:r>
            <a:endParaRPr lang="ro-RO" sz="16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20"/>
          <p:cNvSpPr txBox="1">
            <a:spLocks noGrp="1"/>
          </p:cNvSpPr>
          <p:nvPr>
            <p:ph type="title"/>
          </p:nvPr>
        </p:nvSpPr>
        <p:spPr>
          <a:xfrm>
            <a:off x="3514000" y="320171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 dirty="0">
                <a:effectLst>
                  <a:glow rad="939800">
                    <a:srgbClr val="7B60F4">
                      <a:alpha val="48000"/>
                    </a:srgbClr>
                  </a:glow>
                </a:effectLst>
              </a:rPr>
              <a:t>Produs</a:t>
            </a:r>
            <a:endParaRPr b="1" u="sng" dirty="0">
              <a:effectLst>
                <a:glow rad="939800">
                  <a:srgbClr val="7B60F4">
                    <a:alpha val="48000"/>
                  </a:srgbClr>
                </a:glow>
              </a:effectLst>
            </a:endParaRPr>
          </a:p>
        </p:txBody>
      </p:sp>
      <p:sp>
        <p:nvSpPr>
          <p:cNvPr id="617" name="Google Shape;617;p20"/>
          <p:cNvSpPr txBox="1"/>
          <p:nvPr/>
        </p:nvSpPr>
        <p:spPr>
          <a:xfrm>
            <a:off x="6287696" y="1775495"/>
            <a:ext cx="2406556" cy="720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ln w="3175">
                  <a:solidFill>
                    <a:schemeClr val="tx1">
                      <a:alpha val="55000"/>
                    </a:schemeClr>
                  </a:solidFill>
                </a:ln>
                <a:solidFill>
                  <a:srgbClr val="7B60F4"/>
                </a:solidFill>
                <a:effectLst/>
                <a:latin typeface="Montserrat Black"/>
                <a:ea typeface="Montserrat Black"/>
                <a:cs typeface="Montserrat Black"/>
                <a:sym typeface="Montserrat Black"/>
              </a:rPr>
              <a:t>E</a:t>
            </a:r>
            <a:r>
              <a:rPr lang="ro-RO" sz="2100" dirty="0" err="1">
                <a:ln w="3175">
                  <a:solidFill>
                    <a:schemeClr val="tx1">
                      <a:alpha val="55000"/>
                    </a:schemeClr>
                  </a:solidFill>
                </a:ln>
                <a:solidFill>
                  <a:srgbClr val="7B60F4"/>
                </a:solidFill>
                <a:effectLst/>
                <a:latin typeface="Montserrat Black"/>
                <a:ea typeface="Montserrat Black"/>
                <a:cs typeface="Montserrat Black"/>
                <a:sym typeface="Montserrat Black"/>
              </a:rPr>
              <a:t>xtensia</a:t>
            </a:r>
            <a:r>
              <a:rPr lang="en-US" sz="2100" dirty="0">
                <a:ln w="3175">
                  <a:solidFill>
                    <a:schemeClr val="tx1">
                      <a:alpha val="55000"/>
                    </a:schemeClr>
                  </a:solidFill>
                </a:ln>
                <a:solidFill>
                  <a:srgbClr val="7B60F4"/>
                </a:solidFill>
                <a:effectLst/>
                <a:latin typeface="Montserrat Black"/>
                <a:ea typeface="Montserrat Black"/>
                <a:cs typeface="Montserrat Black"/>
                <a:sym typeface="Montserrat Black"/>
              </a:rPr>
              <a:t> de browser</a:t>
            </a:r>
            <a:endParaRPr sz="2100" dirty="0">
              <a:ln w="3175">
                <a:solidFill>
                  <a:schemeClr val="tx1">
                    <a:alpha val="55000"/>
                  </a:schemeClr>
                </a:solidFill>
              </a:ln>
              <a:solidFill>
                <a:srgbClr val="7B60F4"/>
              </a:solidFill>
              <a:effectLst/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19" name="Google Shape;619;p20"/>
          <p:cNvSpPr txBox="1"/>
          <p:nvPr/>
        </p:nvSpPr>
        <p:spPr>
          <a:xfrm>
            <a:off x="5949011" y="2922433"/>
            <a:ext cx="3083925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Accesezi site-ul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Cumperi produsul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286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Iti ofera protectie automata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" name="Imagine 2">
            <a:extLst>
              <a:ext uri="{FF2B5EF4-FFF2-40B4-BE49-F238E27FC236}">
                <a16:creationId xmlns:a16="http://schemas.microsoft.com/office/drawing/2014/main" id="{55AECCDC-A625-3C9E-1FD0-CBDC1DEDF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34" y="735171"/>
            <a:ext cx="5540220" cy="36731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25" title="Chart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6275" y="1902343"/>
            <a:ext cx="3275990" cy="2061928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5"/>
          <p:cNvSpPr/>
          <p:nvPr/>
        </p:nvSpPr>
        <p:spPr>
          <a:xfrm>
            <a:off x="2611044" y="4153011"/>
            <a:ext cx="1477800" cy="2265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25"/>
          <p:cNvSpPr/>
          <p:nvPr/>
        </p:nvSpPr>
        <p:spPr>
          <a:xfrm>
            <a:off x="2611044" y="4156547"/>
            <a:ext cx="394200" cy="226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5"/>
          <p:cNvSpPr/>
          <p:nvPr/>
        </p:nvSpPr>
        <p:spPr>
          <a:xfrm>
            <a:off x="2611044" y="1537185"/>
            <a:ext cx="1477800" cy="2265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25"/>
          <p:cNvSpPr/>
          <p:nvPr/>
        </p:nvSpPr>
        <p:spPr>
          <a:xfrm>
            <a:off x="2611044" y="1537185"/>
            <a:ext cx="1191300" cy="226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25"/>
          <p:cNvSpPr/>
          <p:nvPr/>
        </p:nvSpPr>
        <p:spPr>
          <a:xfrm>
            <a:off x="2611044" y="2820057"/>
            <a:ext cx="1477800" cy="226500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25"/>
          <p:cNvSpPr txBox="1">
            <a:spLocks noGrp="1"/>
          </p:cNvSpPr>
          <p:nvPr>
            <p:ph type="title"/>
          </p:nvPr>
        </p:nvSpPr>
        <p:spPr>
          <a:xfrm>
            <a:off x="947444" y="168881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u="sng" dirty="0"/>
              <a:t>Market</a:t>
            </a:r>
            <a:endParaRPr dirty="0"/>
          </a:p>
        </p:txBody>
      </p:sp>
      <p:sp>
        <p:nvSpPr>
          <p:cNvPr id="866" name="Google Shape;866;p25"/>
          <p:cNvSpPr txBox="1"/>
          <p:nvPr/>
        </p:nvSpPr>
        <p:spPr>
          <a:xfrm>
            <a:off x="2736438" y="3031432"/>
            <a:ext cx="1477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3.8</a:t>
            </a:r>
            <a:r>
              <a:rPr lang="ro-RO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miliarde €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8" name="Google Shape;868;p25"/>
          <p:cNvSpPr txBox="1"/>
          <p:nvPr/>
        </p:nvSpPr>
        <p:spPr>
          <a:xfrm>
            <a:off x="2619044" y="4434779"/>
            <a:ext cx="1457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30  milioane €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2" name="Google Shape;872;p25"/>
          <p:cNvSpPr/>
          <p:nvPr/>
        </p:nvSpPr>
        <p:spPr>
          <a:xfrm rot="5400000">
            <a:off x="892642" y="3621901"/>
            <a:ext cx="710924" cy="1126508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1">
              <a:lumMod val="25000"/>
              <a:lumOff val="75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25"/>
          <p:cNvSpPr/>
          <p:nvPr/>
        </p:nvSpPr>
        <p:spPr>
          <a:xfrm rot="5400000">
            <a:off x="869773" y="2351243"/>
            <a:ext cx="782571" cy="112650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bg1">
              <a:lumMod val="50000"/>
              <a:lumOff val="50000"/>
            </a:scheme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25"/>
          <p:cNvSpPr/>
          <p:nvPr/>
        </p:nvSpPr>
        <p:spPr>
          <a:xfrm rot="5400000">
            <a:off x="839073" y="1044523"/>
            <a:ext cx="782570" cy="1126507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25"/>
          <p:cNvSpPr/>
          <p:nvPr/>
        </p:nvSpPr>
        <p:spPr>
          <a:xfrm>
            <a:off x="2611044" y="2820057"/>
            <a:ext cx="750900" cy="2265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868;p25">
            <a:extLst>
              <a:ext uri="{FF2B5EF4-FFF2-40B4-BE49-F238E27FC236}">
                <a16:creationId xmlns:a16="http://schemas.microsoft.com/office/drawing/2014/main" id="{912EAD01-0627-887C-E3BD-DB7E658A1C10}"/>
              </a:ext>
            </a:extLst>
          </p:cNvPr>
          <p:cNvSpPr txBox="1"/>
          <p:nvPr/>
        </p:nvSpPr>
        <p:spPr>
          <a:xfrm>
            <a:off x="840582" y="1313187"/>
            <a:ext cx="98373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TAM</a:t>
            </a:r>
            <a:endParaRPr sz="24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Google Shape;868;p25">
            <a:extLst>
              <a:ext uri="{FF2B5EF4-FFF2-40B4-BE49-F238E27FC236}">
                <a16:creationId xmlns:a16="http://schemas.microsoft.com/office/drawing/2014/main" id="{FDA729F2-FF70-8306-CFB2-AF303EBCFB1D}"/>
              </a:ext>
            </a:extLst>
          </p:cNvPr>
          <p:cNvSpPr txBox="1"/>
          <p:nvPr/>
        </p:nvSpPr>
        <p:spPr>
          <a:xfrm>
            <a:off x="782723" y="3898187"/>
            <a:ext cx="98373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SOM</a:t>
            </a:r>
            <a:endParaRPr sz="2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868;p25">
            <a:extLst>
              <a:ext uri="{FF2B5EF4-FFF2-40B4-BE49-F238E27FC236}">
                <a16:creationId xmlns:a16="http://schemas.microsoft.com/office/drawing/2014/main" id="{61A94E89-4B73-16E0-99AF-8A10F249464D}"/>
              </a:ext>
            </a:extLst>
          </p:cNvPr>
          <p:cNvSpPr txBox="1"/>
          <p:nvPr/>
        </p:nvSpPr>
        <p:spPr>
          <a:xfrm>
            <a:off x="840582" y="2619907"/>
            <a:ext cx="98373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SAM</a:t>
            </a:r>
            <a:endParaRPr sz="24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868;p25">
            <a:extLst>
              <a:ext uri="{FF2B5EF4-FFF2-40B4-BE49-F238E27FC236}">
                <a16:creationId xmlns:a16="http://schemas.microsoft.com/office/drawing/2014/main" id="{6DE09AF0-A7A1-8C53-1E5A-3D432D5F1A5B}"/>
              </a:ext>
            </a:extLst>
          </p:cNvPr>
          <p:cNvSpPr txBox="1"/>
          <p:nvPr/>
        </p:nvSpPr>
        <p:spPr>
          <a:xfrm>
            <a:off x="734980" y="1038837"/>
            <a:ext cx="518968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Total </a:t>
            </a: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Addressable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Market</a:t>
            </a:r>
            <a:r>
              <a:rPr lang="en-US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868;p25">
            <a:extLst>
              <a:ext uri="{FF2B5EF4-FFF2-40B4-BE49-F238E27FC236}">
                <a16:creationId xmlns:a16="http://schemas.microsoft.com/office/drawing/2014/main" id="{7DDFB006-6D09-410B-F02E-2D3C282C362B}"/>
              </a:ext>
            </a:extLst>
          </p:cNvPr>
          <p:cNvSpPr txBox="1"/>
          <p:nvPr/>
        </p:nvSpPr>
        <p:spPr>
          <a:xfrm>
            <a:off x="1072458" y="2211388"/>
            <a:ext cx="518968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Serviceable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Available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Market</a:t>
            </a:r>
            <a:r>
              <a:rPr lang="en-US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Google Shape;868;p25">
            <a:extLst>
              <a:ext uri="{FF2B5EF4-FFF2-40B4-BE49-F238E27FC236}">
                <a16:creationId xmlns:a16="http://schemas.microsoft.com/office/drawing/2014/main" id="{17161698-83D9-28F7-6B35-FA3CBCC776CC}"/>
              </a:ext>
            </a:extLst>
          </p:cNvPr>
          <p:cNvSpPr txBox="1"/>
          <p:nvPr/>
        </p:nvSpPr>
        <p:spPr>
          <a:xfrm>
            <a:off x="1072458" y="3631088"/>
            <a:ext cx="5189686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Serviceable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o-RO" sz="1800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Obtainable</a:t>
            </a:r>
            <a:r>
              <a:rPr lang="ro-RO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Market</a:t>
            </a:r>
            <a:r>
              <a:rPr lang="en-US" sz="1800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lang="ro-RO" sz="1800" dirty="0">
              <a:solidFill>
                <a:schemeClr val="tx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" name="Google Shape;866;p25">
            <a:extLst>
              <a:ext uri="{FF2B5EF4-FFF2-40B4-BE49-F238E27FC236}">
                <a16:creationId xmlns:a16="http://schemas.microsoft.com/office/drawing/2014/main" id="{E965AA7C-399F-5C60-DC04-5FDDA338D705}"/>
              </a:ext>
            </a:extLst>
          </p:cNvPr>
          <p:cNvSpPr txBox="1"/>
          <p:nvPr/>
        </p:nvSpPr>
        <p:spPr>
          <a:xfrm>
            <a:off x="2609044" y="1800457"/>
            <a:ext cx="14778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ro-RO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miliarde €</a:t>
            </a:r>
            <a:endParaRPr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862;p25">
            <a:extLst>
              <a:ext uri="{FF2B5EF4-FFF2-40B4-BE49-F238E27FC236}">
                <a16:creationId xmlns:a16="http://schemas.microsoft.com/office/drawing/2014/main" id="{0F587612-0759-D5D8-D970-BE6D8C7B45CB}"/>
              </a:ext>
            </a:extLst>
          </p:cNvPr>
          <p:cNvSpPr/>
          <p:nvPr/>
        </p:nvSpPr>
        <p:spPr>
          <a:xfrm>
            <a:off x="216672" y="2895061"/>
            <a:ext cx="2142544" cy="448342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862;p25">
            <a:extLst>
              <a:ext uri="{FF2B5EF4-FFF2-40B4-BE49-F238E27FC236}">
                <a16:creationId xmlns:a16="http://schemas.microsoft.com/office/drawing/2014/main" id="{88B37ECA-E081-075D-5611-01EBEE2797A0}"/>
              </a:ext>
            </a:extLst>
          </p:cNvPr>
          <p:cNvSpPr/>
          <p:nvPr/>
        </p:nvSpPr>
        <p:spPr>
          <a:xfrm>
            <a:off x="216672" y="2075678"/>
            <a:ext cx="936454" cy="448342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862;p25">
            <a:extLst>
              <a:ext uri="{FF2B5EF4-FFF2-40B4-BE49-F238E27FC236}">
                <a16:creationId xmlns:a16="http://schemas.microsoft.com/office/drawing/2014/main" id="{86935888-1822-6485-3A56-33327368F96D}"/>
              </a:ext>
            </a:extLst>
          </p:cNvPr>
          <p:cNvSpPr/>
          <p:nvPr/>
        </p:nvSpPr>
        <p:spPr>
          <a:xfrm>
            <a:off x="179237" y="1001713"/>
            <a:ext cx="936454" cy="448342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874;p25">
            <a:extLst>
              <a:ext uri="{FF2B5EF4-FFF2-40B4-BE49-F238E27FC236}">
                <a16:creationId xmlns:a16="http://schemas.microsoft.com/office/drawing/2014/main" id="{F64ECC79-8EE6-A400-509A-27E125F5D0FB}"/>
              </a:ext>
            </a:extLst>
          </p:cNvPr>
          <p:cNvSpPr/>
          <p:nvPr/>
        </p:nvSpPr>
        <p:spPr>
          <a:xfrm rot="5400000">
            <a:off x="1864170" y="3057386"/>
            <a:ext cx="782570" cy="293905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2"/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32"/>
          <p:cNvSpPr txBox="1">
            <a:spLocks noGrp="1"/>
          </p:cNvSpPr>
          <p:nvPr>
            <p:ph type="title"/>
          </p:nvPr>
        </p:nvSpPr>
        <p:spPr>
          <a:xfrm>
            <a:off x="897800" y="305124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u="sng" dirty="0"/>
              <a:t>Business Model </a:t>
            </a:r>
            <a:endParaRPr dirty="0"/>
          </a:p>
        </p:txBody>
      </p:sp>
      <p:sp>
        <p:nvSpPr>
          <p:cNvPr id="991" name="Google Shape;991;p32"/>
          <p:cNvSpPr txBox="1"/>
          <p:nvPr/>
        </p:nvSpPr>
        <p:spPr>
          <a:xfrm>
            <a:off x="888747" y="4257857"/>
            <a:ext cx="3135207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u="sng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30  €/ anagajat/ luna </a:t>
            </a:r>
          </a:p>
        </p:txBody>
      </p:sp>
      <p:sp>
        <p:nvSpPr>
          <p:cNvPr id="992" name="Google Shape;992;p32"/>
          <p:cNvSpPr txBox="1"/>
          <p:nvPr/>
        </p:nvSpPr>
        <p:spPr>
          <a:xfrm>
            <a:off x="295706" y="2910483"/>
            <a:ext cx="372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Break-even: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Diagramă 3">
                <a:extLst>
                  <a:ext uri="{FF2B5EF4-FFF2-40B4-BE49-F238E27FC236}">
                    <a16:creationId xmlns:a16="http://schemas.microsoft.com/office/drawing/2014/main" id="{526240C8-5AEC-978B-F0BE-68971DDE9BAB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914470023"/>
                  </p:ext>
                </p:extLst>
              </p:nvPr>
            </p:nvGraphicFramePr>
            <p:xfrm>
              <a:off x="4100999" y="1296063"/>
              <a:ext cx="4745799" cy="3463299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" name="Diagramă 3">
                <a:extLst>
                  <a:ext uri="{FF2B5EF4-FFF2-40B4-BE49-F238E27FC236}">
                    <a16:creationId xmlns:a16="http://schemas.microsoft.com/office/drawing/2014/main" id="{526240C8-5AEC-978B-F0BE-68971DDE9BA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100999" y="1296063"/>
                <a:ext cx="4745799" cy="3463299"/>
              </a:xfrm>
              <a:prstGeom prst="rect">
                <a:avLst/>
              </a:prstGeom>
            </p:spPr>
          </p:pic>
        </mc:Fallback>
      </mc:AlternateContent>
      <p:sp>
        <p:nvSpPr>
          <p:cNvPr id="5" name="Google Shape;992;p32">
            <a:extLst>
              <a:ext uri="{FF2B5EF4-FFF2-40B4-BE49-F238E27FC236}">
                <a16:creationId xmlns:a16="http://schemas.microsoft.com/office/drawing/2014/main" id="{D2F70B33-C73C-4410-CF5B-9C3846B56346}"/>
              </a:ext>
            </a:extLst>
          </p:cNvPr>
          <p:cNvSpPr txBox="1"/>
          <p:nvPr/>
        </p:nvSpPr>
        <p:spPr>
          <a:xfrm>
            <a:off x="313708" y="2101069"/>
            <a:ext cx="52319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LTV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6" name="Google Shape;992;p32">
            <a:extLst>
              <a:ext uri="{FF2B5EF4-FFF2-40B4-BE49-F238E27FC236}">
                <a16:creationId xmlns:a16="http://schemas.microsoft.com/office/drawing/2014/main" id="{521045CB-72CE-682B-C39C-B1FCEBD62218}"/>
              </a:ext>
            </a:extLst>
          </p:cNvPr>
          <p:cNvSpPr txBox="1"/>
          <p:nvPr/>
        </p:nvSpPr>
        <p:spPr>
          <a:xfrm>
            <a:off x="243896" y="1003184"/>
            <a:ext cx="3726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" sz="21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CAC</a:t>
            </a:r>
            <a:endParaRPr sz="2100"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7" name="Google Shape;991;p32">
            <a:extLst>
              <a:ext uri="{FF2B5EF4-FFF2-40B4-BE49-F238E27FC236}">
                <a16:creationId xmlns:a16="http://schemas.microsoft.com/office/drawing/2014/main" id="{6608A4FE-71C6-BC8B-E9DB-088206DEB7DE}"/>
              </a:ext>
            </a:extLst>
          </p:cNvPr>
          <p:cNvSpPr txBox="1"/>
          <p:nvPr/>
        </p:nvSpPr>
        <p:spPr>
          <a:xfrm>
            <a:off x="704785" y="3248802"/>
            <a:ext cx="3135207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- 15-16 luni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- 1600 clienti</a:t>
            </a:r>
          </a:p>
        </p:txBody>
      </p:sp>
      <p:sp>
        <p:nvSpPr>
          <p:cNvPr id="10" name="Google Shape;991;p32">
            <a:extLst>
              <a:ext uri="{FF2B5EF4-FFF2-40B4-BE49-F238E27FC236}">
                <a16:creationId xmlns:a16="http://schemas.microsoft.com/office/drawing/2014/main" id="{BE58F063-0A58-B217-8978-E86A48A4CEF9}"/>
              </a:ext>
            </a:extLst>
          </p:cNvPr>
          <p:cNvSpPr txBox="1"/>
          <p:nvPr/>
        </p:nvSpPr>
        <p:spPr>
          <a:xfrm>
            <a:off x="704785" y="2472110"/>
            <a:ext cx="3135207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 </a:t>
            </a:r>
            <a:r>
              <a:rPr lang="ro-R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55.000–160.000 € / client</a:t>
            </a:r>
            <a:endParaRPr lang="en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991;p32">
            <a:extLst>
              <a:ext uri="{FF2B5EF4-FFF2-40B4-BE49-F238E27FC236}">
                <a16:creationId xmlns:a16="http://schemas.microsoft.com/office/drawing/2014/main" id="{581FCF1D-1072-6146-9ADD-A0A60B54B784}"/>
              </a:ext>
            </a:extLst>
          </p:cNvPr>
          <p:cNvSpPr txBox="1"/>
          <p:nvPr/>
        </p:nvSpPr>
        <p:spPr>
          <a:xfrm>
            <a:off x="1050189" y="1024085"/>
            <a:ext cx="338033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ro-RO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Costul de Achiziție al Clientului</a:t>
            </a:r>
            <a:endParaRPr lang="en"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991;p32">
            <a:extLst>
              <a:ext uri="{FF2B5EF4-FFF2-40B4-BE49-F238E27FC236}">
                <a16:creationId xmlns:a16="http://schemas.microsoft.com/office/drawing/2014/main" id="{F0A8384A-54AE-EA74-A818-F7FA23020F90}"/>
              </a:ext>
            </a:extLst>
          </p:cNvPr>
          <p:cNvSpPr txBox="1"/>
          <p:nvPr/>
        </p:nvSpPr>
        <p:spPr>
          <a:xfrm>
            <a:off x="1182621" y="2076826"/>
            <a:ext cx="2609411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ro-RO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Venit lunar estimat</a:t>
            </a:r>
            <a:endParaRPr lang="en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991;p32">
            <a:extLst>
              <a:ext uri="{FF2B5EF4-FFF2-40B4-BE49-F238E27FC236}">
                <a16:creationId xmlns:a16="http://schemas.microsoft.com/office/drawing/2014/main" id="{4C33DBDF-0985-B076-4B53-EC1C9C4F7D2E}"/>
              </a:ext>
            </a:extLst>
          </p:cNvPr>
          <p:cNvSpPr txBox="1"/>
          <p:nvPr/>
        </p:nvSpPr>
        <p:spPr>
          <a:xfrm>
            <a:off x="1050189" y="1491858"/>
            <a:ext cx="338033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ts val="1000"/>
              </a:lnSpc>
            </a:pP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60.000 </a:t>
            </a:r>
            <a:r>
              <a:rPr lang="en-US" sz="1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costuri</a:t>
            </a: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toatale</a:t>
            </a:r>
            <a:endParaRPr lang="en-US"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lnSpc>
                <a:spcPts val="1000"/>
              </a:lnSpc>
            </a:pPr>
            <a:endParaRPr lang="en-US"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>
              <a:lnSpc>
                <a:spcPts val="1000"/>
              </a:lnSpc>
            </a:pPr>
            <a:r>
              <a:rPr lang="en-US" sz="1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      50 </a:t>
            </a:r>
            <a:r>
              <a:rPr lang="en-US" sz="1200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clienti</a:t>
            </a:r>
            <a:endParaRPr lang="en" sz="12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" name="Conector drept 14">
            <a:extLst>
              <a:ext uri="{FF2B5EF4-FFF2-40B4-BE49-F238E27FC236}">
                <a16:creationId xmlns:a16="http://schemas.microsoft.com/office/drawing/2014/main" id="{01F983B7-4AEA-AE0B-80CD-DEB700BEA425}"/>
              </a:ext>
            </a:extLst>
          </p:cNvPr>
          <p:cNvCxnSpPr>
            <a:cxnSpLocks/>
          </p:cNvCxnSpPr>
          <p:nvPr/>
        </p:nvCxnSpPr>
        <p:spPr>
          <a:xfrm>
            <a:off x="874701" y="1747177"/>
            <a:ext cx="2230854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Conector drept 1">
            <a:extLst>
              <a:ext uri="{FF2B5EF4-FFF2-40B4-BE49-F238E27FC236}">
                <a16:creationId xmlns:a16="http://schemas.microsoft.com/office/drawing/2014/main" id="{F9665545-59EC-B33F-3C30-AB7951B16104}"/>
              </a:ext>
            </a:extLst>
          </p:cNvPr>
          <p:cNvCxnSpPr>
            <a:cxnSpLocks/>
          </p:cNvCxnSpPr>
          <p:nvPr/>
        </p:nvCxnSpPr>
        <p:spPr>
          <a:xfrm>
            <a:off x="513430" y="1673701"/>
            <a:ext cx="26806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drept 2">
            <a:extLst>
              <a:ext uri="{FF2B5EF4-FFF2-40B4-BE49-F238E27FC236}">
                <a16:creationId xmlns:a16="http://schemas.microsoft.com/office/drawing/2014/main" id="{7AD0A085-68CC-73FB-0477-DA256D52E20B}"/>
              </a:ext>
            </a:extLst>
          </p:cNvPr>
          <p:cNvCxnSpPr>
            <a:cxnSpLocks/>
          </p:cNvCxnSpPr>
          <p:nvPr/>
        </p:nvCxnSpPr>
        <p:spPr>
          <a:xfrm>
            <a:off x="521381" y="1774385"/>
            <a:ext cx="26214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rept 7">
            <a:extLst>
              <a:ext uri="{FF2B5EF4-FFF2-40B4-BE49-F238E27FC236}">
                <a16:creationId xmlns:a16="http://schemas.microsoft.com/office/drawing/2014/main" id="{1217EDDD-E780-958E-E84C-D690AAF880BF}"/>
              </a:ext>
            </a:extLst>
          </p:cNvPr>
          <p:cNvCxnSpPr>
            <a:cxnSpLocks/>
          </p:cNvCxnSpPr>
          <p:nvPr/>
        </p:nvCxnSpPr>
        <p:spPr>
          <a:xfrm>
            <a:off x="3201212" y="1698950"/>
            <a:ext cx="268069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rept 8">
            <a:extLst>
              <a:ext uri="{FF2B5EF4-FFF2-40B4-BE49-F238E27FC236}">
                <a16:creationId xmlns:a16="http://schemas.microsoft.com/office/drawing/2014/main" id="{02EC9661-B7EC-1694-8841-62CCB73BEC2B}"/>
              </a:ext>
            </a:extLst>
          </p:cNvPr>
          <p:cNvCxnSpPr>
            <a:cxnSpLocks/>
          </p:cNvCxnSpPr>
          <p:nvPr/>
        </p:nvCxnSpPr>
        <p:spPr>
          <a:xfrm>
            <a:off x="3209163" y="1799634"/>
            <a:ext cx="262140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991;p32">
            <a:extLst>
              <a:ext uri="{FF2B5EF4-FFF2-40B4-BE49-F238E27FC236}">
                <a16:creationId xmlns:a16="http://schemas.microsoft.com/office/drawing/2014/main" id="{D818B1CB-F016-6B29-1E4A-41C660531057}"/>
              </a:ext>
            </a:extLst>
          </p:cNvPr>
          <p:cNvSpPr txBox="1"/>
          <p:nvPr/>
        </p:nvSpPr>
        <p:spPr>
          <a:xfrm>
            <a:off x="3462506" y="1603345"/>
            <a:ext cx="3380336" cy="57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ts val="1000"/>
              </a:lnSpc>
            </a:pPr>
            <a:r>
              <a:rPr lang="en-US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1.200 €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1"/>
          <p:cNvSpPr txBox="1">
            <a:spLocks noGrp="1"/>
          </p:cNvSpPr>
          <p:nvPr>
            <p:ph type="title"/>
          </p:nvPr>
        </p:nvSpPr>
        <p:spPr>
          <a:xfrm>
            <a:off x="596346" y="478833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 dirty="0"/>
              <a:t>Competi</a:t>
            </a:r>
            <a:r>
              <a:rPr lang="en-US" u="sng" dirty="0"/>
              <a:t>ț</a:t>
            </a:r>
            <a:r>
              <a:rPr lang="en" u="sng" dirty="0"/>
              <a:t>ie</a:t>
            </a:r>
            <a:endParaRPr u="sng" dirty="0"/>
          </a:p>
        </p:txBody>
      </p:sp>
      <p:graphicFrame>
        <p:nvGraphicFramePr>
          <p:cNvPr id="983" name="Google Shape;983;p31"/>
          <p:cNvGraphicFramePr/>
          <p:nvPr>
            <p:extLst>
              <p:ext uri="{D42A27DB-BD31-4B8C-83A1-F6EECF244321}">
                <p14:modId xmlns:p14="http://schemas.microsoft.com/office/powerpoint/2010/main" val="1889677731"/>
              </p:ext>
            </p:extLst>
          </p:nvPr>
        </p:nvGraphicFramePr>
        <p:xfrm>
          <a:off x="596346" y="1365111"/>
          <a:ext cx="7272634" cy="2103000"/>
        </p:xfrm>
        <a:graphic>
          <a:graphicData uri="http://schemas.openxmlformats.org/drawingml/2006/table">
            <a:tbl>
              <a:tblPr lastCol="1">
                <a:noFill/>
                <a:tableStyleId>{4CDACBFB-2300-4488-B464-44D6CCA20A45}</a:tableStyleId>
              </a:tblPr>
              <a:tblGrid>
                <a:gridCol w="1476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7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9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9574">
                  <a:extLst>
                    <a:ext uri="{9D8B030D-6E8A-4147-A177-3AD203B41FA5}">
                      <a16:colId xmlns:a16="http://schemas.microsoft.com/office/drawing/2014/main" val="3669557638"/>
                    </a:ext>
                  </a:extLst>
                </a:gridCol>
              </a:tblGrid>
              <a:tr h="36808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Proofpoint</a:t>
                      </a:r>
                      <a:endParaRPr lang="ro-RO"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Guardio</a:t>
                      </a:r>
                      <a:endParaRPr lang="ro-RO"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2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Cloud</a:t>
                      </a:r>
                      <a:r>
                        <a:rPr lang="ro-RO" sz="120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 </a:t>
                      </a:r>
                      <a:r>
                        <a:rPr lang="ro-RO" sz="12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Protection</a:t>
                      </a:r>
                      <a:endParaRPr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Safey</a:t>
                      </a:r>
                      <a:endParaRPr sz="1200" dirty="0">
                        <a:solidFill>
                          <a:schemeClr val="dk1"/>
                        </a:solidFill>
                        <a:latin typeface="Montserrat Black"/>
                        <a:ea typeface="Montserrat Black"/>
                        <a:cs typeface="Montserrat Black"/>
                        <a:sym typeface="Montserrat Black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62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Filtreaza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mesajele</a:t>
                      </a:r>
                      <a:endParaRPr lang="en-US"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74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Blochează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amenintarile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și</a:t>
                      </a: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notificările</a:t>
                      </a:r>
                      <a:endParaRPr lang="en-US"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81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</a:t>
                      </a:r>
                      <a:r>
                        <a:rPr lang="ro-RO" sz="1100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caneaza</a:t>
                      </a:r>
                      <a:r>
                        <a:rPr lang="ro-RO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fiecare fișier </a:t>
                      </a:r>
                      <a:endParaRPr lang="en-US"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X</a:t>
                      </a:r>
                      <a:endParaRPr sz="1100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 algn="ctr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Google Shape;864;p25">
            <a:extLst>
              <a:ext uri="{FF2B5EF4-FFF2-40B4-BE49-F238E27FC236}">
                <a16:creationId xmlns:a16="http://schemas.microsoft.com/office/drawing/2014/main" id="{EC3276DF-1CC0-F8D9-00E0-0BE71240AEF7}"/>
              </a:ext>
            </a:extLst>
          </p:cNvPr>
          <p:cNvSpPr/>
          <p:nvPr/>
        </p:nvSpPr>
        <p:spPr>
          <a:xfrm>
            <a:off x="1933877" y="3778389"/>
            <a:ext cx="4458972" cy="878574"/>
          </a:xfrm>
          <a:prstGeom prst="roundRect">
            <a:avLst>
              <a:gd name="adj" fmla="val 5000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868;p25">
            <a:extLst>
              <a:ext uri="{FF2B5EF4-FFF2-40B4-BE49-F238E27FC236}">
                <a16:creationId xmlns:a16="http://schemas.microsoft.com/office/drawing/2014/main" id="{C1D48655-17B7-CCAA-E29B-36BF3FC897CA}"/>
              </a:ext>
            </a:extLst>
          </p:cNvPr>
          <p:cNvSpPr txBox="1"/>
          <p:nvPr/>
        </p:nvSpPr>
        <p:spPr>
          <a:xfrm>
            <a:off x="2411582" y="3876337"/>
            <a:ext cx="3503562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F</a:t>
            </a:r>
            <a:r>
              <a:rPr lang="ro-RO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acilitățile</a:t>
            </a:r>
            <a:r>
              <a:rPr lang="ro-RO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celorlalte </a:t>
            </a:r>
            <a:r>
              <a:rPr lang="en-US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produse</a:t>
            </a:r>
            <a:r>
              <a:rPr lang="ro-RO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+</a:t>
            </a:r>
            <a:r>
              <a:rPr lang="ro-RO" sz="1600" b="1" dirty="0" err="1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pret</a:t>
            </a:r>
            <a:r>
              <a:rPr lang="ro-RO" sz="16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 mai avantajos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19"/>
          <p:cNvSpPr txBox="1">
            <a:spLocks noGrp="1"/>
          </p:cNvSpPr>
          <p:nvPr>
            <p:ph type="title"/>
          </p:nvPr>
        </p:nvSpPr>
        <p:spPr>
          <a:xfrm>
            <a:off x="1152939" y="520129"/>
            <a:ext cx="6077542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u="sng" dirty="0"/>
              <a:t>Validare</a:t>
            </a:r>
            <a:endParaRPr u="sng" dirty="0"/>
          </a:p>
        </p:txBody>
      </p:sp>
      <p:graphicFrame>
        <p:nvGraphicFramePr>
          <p:cNvPr id="607" name="Google Shape;607;p19"/>
          <p:cNvGraphicFramePr/>
          <p:nvPr>
            <p:extLst>
              <p:ext uri="{D42A27DB-BD31-4B8C-83A1-F6EECF244321}">
                <p14:modId xmlns:p14="http://schemas.microsoft.com/office/powerpoint/2010/main" val="1942904452"/>
              </p:ext>
            </p:extLst>
          </p:nvPr>
        </p:nvGraphicFramePr>
        <p:xfrm>
          <a:off x="2671639" y="1550505"/>
          <a:ext cx="6136761" cy="2714166"/>
        </p:xfrm>
        <a:graphic>
          <a:graphicData uri="http://schemas.openxmlformats.org/drawingml/2006/table">
            <a:tbl>
              <a:tblPr>
                <a:noFill/>
                <a:tableStyleId>{4CDACBFB-2300-4488-B464-44D6CCA20A45}</a:tableStyleId>
              </a:tblPr>
              <a:tblGrid>
                <a:gridCol w="15292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8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770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Competitie</a:t>
                      </a:r>
                      <a:endParaRPr sz="16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Procent /piata vizata</a:t>
                      </a:r>
                      <a:endParaRPr sz="16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Clienti</a:t>
                      </a:r>
                      <a:endParaRPr sz="1600" b="1"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10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Proofpoint</a:t>
                      </a: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20% 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firme mari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36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Guardio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80% 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persoanele fizice + business-urile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367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Cloud</a:t>
                      </a: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Protection</a:t>
                      </a: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45700" marR="45700" marT="45700" marB="45700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10% 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î</a:t>
                      </a:r>
                      <a:r>
                        <a:rPr lang="ro-RO" sz="1400" dirty="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n continua </a:t>
                      </a:r>
                      <a:r>
                        <a:rPr lang="ro-RO" sz="1400" dirty="0" err="1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crestere</a:t>
                      </a:r>
                      <a:endParaRPr sz="1400" dirty="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Google Shape;752;p24">
            <a:extLst>
              <a:ext uri="{FF2B5EF4-FFF2-40B4-BE49-F238E27FC236}">
                <a16:creationId xmlns:a16="http://schemas.microsoft.com/office/drawing/2014/main" id="{AED518EC-19E3-ACD2-4494-79E55D3CDB78}"/>
              </a:ext>
            </a:extLst>
          </p:cNvPr>
          <p:cNvSpPr/>
          <p:nvPr/>
        </p:nvSpPr>
        <p:spPr>
          <a:xfrm rot="5400000">
            <a:off x="565867" y="2027537"/>
            <a:ext cx="1431970" cy="189250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CasetăText 1">
            <a:extLst>
              <a:ext uri="{FF2B5EF4-FFF2-40B4-BE49-F238E27FC236}">
                <a16:creationId xmlns:a16="http://schemas.microsoft.com/office/drawing/2014/main" id="{F002DB66-1085-3493-6AD7-41F27197A15A}"/>
              </a:ext>
            </a:extLst>
          </p:cNvPr>
          <p:cNvSpPr txBox="1"/>
          <p:nvPr/>
        </p:nvSpPr>
        <p:spPr>
          <a:xfrm>
            <a:off x="335600" y="2712178"/>
            <a:ext cx="19957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b="1" dirty="0">
                <a:solidFill>
                  <a:schemeClr val="tx1"/>
                </a:solidFill>
                <a:latin typeface="Montserrat Black" panose="00000A00000000000000" pitchFamily="2" charset="0"/>
              </a:rPr>
              <a:t>Procent tinta de 40% din SAM.</a:t>
            </a:r>
            <a:endParaRPr lang="ro-RO" b="1" dirty="0">
              <a:solidFill>
                <a:schemeClr val="tx1"/>
              </a:solidFill>
              <a:latin typeface="Montserrat Black" panose="00000A00000000000000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23"/>
          <p:cNvSpPr txBox="1">
            <a:spLocks noGrp="1"/>
          </p:cNvSpPr>
          <p:nvPr>
            <p:ph type="title"/>
          </p:nvPr>
        </p:nvSpPr>
        <p:spPr>
          <a:xfrm>
            <a:off x="1268640" y="1083900"/>
            <a:ext cx="77040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b="1" u="sng" dirty="0"/>
              <a:t>Goto market</a:t>
            </a:r>
            <a:endParaRPr dirty="0"/>
          </a:p>
        </p:txBody>
      </p:sp>
      <p:graphicFrame>
        <p:nvGraphicFramePr>
          <p:cNvPr id="729" name="Google Shape;729;p23"/>
          <p:cNvGraphicFramePr/>
          <p:nvPr>
            <p:extLst>
              <p:ext uri="{D42A27DB-BD31-4B8C-83A1-F6EECF244321}">
                <p14:modId xmlns:p14="http://schemas.microsoft.com/office/powerpoint/2010/main" val="1536061407"/>
              </p:ext>
            </p:extLst>
          </p:nvPr>
        </p:nvGraphicFramePr>
        <p:xfrm>
          <a:off x="3256461" y="2571750"/>
          <a:ext cx="5086850" cy="1035400"/>
        </p:xfrm>
        <a:graphic>
          <a:graphicData uri="http://schemas.openxmlformats.org/drawingml/2006/table">
            <a:tbl>
              <a:tblPr>
                <a:noFill/>
                <a:tableStyleId>{4CDACBFB-2300-4488-B464-44D6CCA20A45}</a:tableStyleId>
              </a:tblPr>
              <a:tblGrid>
                <a:gridCol w="2034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5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77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Reclame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 video</a:t>
                      </a:r>
                      <a:endParaRPr lang="ro-RO" sz="1600"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Captarea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  <a:r>
                        <a:rPr lang="en-US" dirty="0" err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atentiei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sz="1600" dirty="0">
                          <a:solidFill>
                            <a:schemeClr val="dk1"/>
                          </a:solidFill>
                          <a:latin typeface="Montserrat Black"/>
                          <a:ea typeface="Montserrat Black"/>
                          <a:cs typeface="Montserrat Black"/>
                          <a:sym typeface="Montserrat Black"/>
                        </a:rPr>
                        <a:t>Evenimente</a:t>
                      </a:r>
                      <a:endParaRPr dirty="0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733C9B">
                        <a:alpha val="330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o-RO" dirty="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Demonstrație live</a:t>
                      </a:r>
                      <a:endParaRPr dirty="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30" name="Google Shape;730;p23"/>
          <p:cNvSpPr/>
          <p:nvPr/>
        </p:nvSpPr>
        <p:spPr>
          <a:xfrm>
            <a:off x="579937" y="1536450"/>
            <a:ext cx="1035300" cy="10353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  <a:latin typeface="Montserrat Black"/>
                <a:sym typeface="Montserrat Black"/>
              </a:rPr>
              <a:t>L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731" name="Google Shape;731;p23"/>
          <p:cNvSpPr/>
          <p:nvPr/>
        </p:nvSpPr>
        <p:spPr>
          <a:xfrm>
            <a:off x="1615378" y="1536450"/>
            <a:ext cx="1035300" cy="10353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2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C</a:t>
            </a:r>
            <a:endParaRPr lang="ro-RO" sz="2800" dirty="0">
              <a:solidFill>
                <a:schemeClr val="dk1"/>
              </a:solidFill>
            </a:endParaRPr>
          </a:p>
        </p:txBody>
      </p:sp>
      <p:sp>
        <p:nvSpPr>
          <p:cNvPr id="733" name="Google Shape;733;p23"/>
          <p:cNvSpPr/>
          <p:nvPr/>
        </p:nvSpPr>
        <p:spPr>
          <a:xfrm>
            <a:off x="1097587" y="2581600"/>
            <a:ext cx="1035300" cy="1035300"/>
          </a:xfrm>
          <a:prstGeom prst="rect">
            <a:avLst/>
          </a:prstGeom>
          <a:solidFill>
            <a:srgbClr val="733C9B">
              <a:alpha val="33020"/>
            </a:srgbClr>
          </a:solidFill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o-RO" sz="2800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W</a:t>
            </a:r>
            <a:endParaRPr lang="ro-RO" sz="2800" dirty="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</a:endParaRPr>
          </a:p>
        </p:txBody>
      </p:sp>
      <p:sp>
        <p:nvSpPr>
          <p:cNvPr id="738" name="Google Shape;738;p23"/>
          <p:cNvSpPr txBox="1"/>
          <p:nvPr/>
        </p:nvSpPr>
        <p:spPr>
          <a:xfrm>
            <a:off x="1615387" y="2252500"/>
            <a:ext cx="1035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Conferințe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9" name="Google Shape;739;p23"/>
          <p:cNvSpPr txBox="1"/>
          <p:nvPr/>
        </p:nvSpPr>
        <p:spPr>
          <a:xfrm>
            <a:off x="579937" y="2252500"/>
            <a:ext cx="1035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LinkedIn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0" name="Google Shape;740;p23"/>
          <p:cNvSpPr txBox="1"/>
          <p:nvPr/>
        </p:nvSpPr>
        <p:spPr>
          <a:xfrm>
            <a:off x="1097587" y="3297650"/>
            <a:ext cx="1035300" cy="32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1000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Webinarii</a:t>
            </a:r>
            <a:endParaRPr sz="10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6"/>
          <p:cNvSpPr txBox="1">
            <a:spLocks noGrp="1"/>
          </p:cNvSpPr>
          <p:nvPr>
            <p:ph type="title"/>
          </p:nvPr>
        </p:nvSpPr>
        <p:spPr>
          <a:xfrm>
            <a:off x="638055" y="452915"/>
            <a:ext cx="4806756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 dirty="0" err="1"/>
              <a:t>Echipa</a:t>
            </a:r>
            <a:r>
              <a:rPr lang="en-US" u="sng" dirty="0"/>
              <a:t>: </a:t>
            </a:r>
            <a:r>
              <a:rPr lang="en-US" u="sng" dirty="0" err="1"/>
              <a:t>M_Power</a:t>
            </a:r>
            <a:endParaRPr u="sng" dirty="0"/>
          </a:p>
        </p:txBody>
      </p:sp>
      <p:cxnSp>
        <p:nvCxnSpPr>
          <p:cNvPr id="887" name="Google Shape;887;p26"/>
          <p:cNvCxnSpPr>
            <a:cxnSpLocks/>
          </p:cNvCxnSpPr>
          <p:nvPr/>
        </p:nvCxnSpPr>
        <p:spPr>
          <a:xfrm>
            <a:off x="2897695" y="1806575"/>
            <a:ext cx="0" cy="2835834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0" name="Google Shape;890;p26"/>
          <p:cNvCxnSpPr>
            <a:cxnSpLocks/>
          </p:cNvCxnSpPr>
          <p:nvPr/>
        </p:nvCxnSpPr>
        <p:spPr>
          <a:xfrm flipH="1">
            <a:off x="1068782" y="3072601"/>
            <a:ext cx="3657826" cy="1739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8" name="Google Shape;888;p26"/>
          <p:cNvSpPr txBox="1"/>
          <p:nvPr/>
        </p:nvSpPr>
        <p:spPr>
          <a:xfrm>
            <a:off x="5992085" y="723067"/>
            <a:ext cx="197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ontserrat Black" panose="00000A00000000000000" pitchFamily="2" charset="0"/>
                <a:ea typeface="Montserrat"/>
                <a:cs typeface="Montserrat"/>
                <a:sym typeface="Montserrat"/>
              </a:rPr>
              <a:t>Sarcini indeplinite:</a:t>
            </a:r>
            <a:endParaRPr sz="1800" dirty="0">
              <a:solidFill>
                <a:schemeClr val="dk1"/>
              </a:solidFill>
              <a:latin typeface="Montserrat Black" panose="00000A00000000000000" pitchFamily="2" charset="0"/>
              <a:ea typeface="Montserrat"/>
              <a:cs typeface="Montserrat"/>
              <a:sym typeface="Montserrat"/>
            </a:endParaRPr>
          </a:p>
        </p:txBody>
      </p:sp>
      <p:sp>
        <p:nvSpPr>
          <p:cNvPr id="892" name="Google Shape;892;p26"/>
          <p:cNvSpPr txBox="1"/>
          <p:nvPr/>
        </p:nvSpPr>
        <p:spPr>
          <a:xfrm>
            <a:off x="5758796" y="1990465"/>
            <a:ext cx="259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</a:t>
            </a:r>
            <a:r>
              <a:rPr lang="en-US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dezvoltare</a:t>
            </a: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idee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-research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</a:t>
            </a:r>
            <a:r>
              <a:rPr lang="en-US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programare</a:t>
            </a:r>
            <a:r>
              <a:rPr lang="en-US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en-US" dirty="0" err="1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proiect</a:t>
            </a:r>
            <a:endParaRPr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895" name="Google Shape;895;p26"/>
          <p:cNvSpPr txBox="1"/>
          <p:nvPr/>
        </p:nvSpPr>
        <p:spPr>
          <a:xfrm>
            <a:off x="5758796" y="3608297"/>
            <a:ext cx="2597400" cy="490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-prezentator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-interfata proiect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-editare prezentare</a:t>
            </a:r>
            <a:endParaRPr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901" name="Google Shape;901;p26"/>
          <p:cNvSpPr/>
          <p:nvPr/>
        </p:nvSpPr>
        <p:spPr>
          <a:xfrm rot="5400000">
            <a:off x="1490441" y="1746207"/>
            <a:ext cx="817044" cy="130112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DB5F5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Google Shape;900;p26">
            <a:extLst>
              <a:ext uri="{FF2B5EF4-FFF2-40B4-BE49-F238E27FC236}">
                <a16:creationId xmlns:a16="http://schemas.microsoft.com/office/drawing/2014/main" id="{7EF5F0B4-176B-0BC3-7CAB-ABA01904C6DA}"/>
              </a:ext>
            </a:extLst>
          </p:cNvPr>
          <p:cNvSpPr/>
          <p:nvPr/>
        </p:nvSpPr>
        <p:spPr>
          <a:xfrm rot="5400000">
            <a:off x="1585774" y="3107352"/>
            <a:ext cx="831549" cy="133145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8959CF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" name="Google Shape;901;p26">
            <a:extLst>
              <a:ext uri="{FF2B5EF4-FFF2-40B4-BE49-F238E27FC236}">
                <a16:creationId xmlns:a16="http://schemas.microsoft.com/office/drawing/2014/main" id="{925A65D4-4654-D469-6B3A-EBAA459F5AD5}"/>
              </a:ext>
            </a:extLst>
          </p:cNvPr>
          <p:cNvSpPr/>
          <p:nvPr/>
        </p:nvSpPr>
        <p:spPr>
          <a:xfrm rot="5400000">
            <a:off x="3538587" y="3213670"/>
            <a:ext cx="833392" cy="135014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4B2682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Google Shape;901;p26">
            <a:extLst>
              <a:ext uri="{FF2B5EF4-FFF2-40B4-BE49-F238E27FC236}">
                <a16:creationId xmlns:a16="http://schemas.microsoft.com/office/drawing/2014/main" id="{F3A158B3-F72D-30FE-2BF4-AD3971CB13AB}"/>
              </a:ext>
            </a:extLst>
          </p:cNvPr>
          <p:cNvSpPr/>
          <p:nvPr/>
        </p:nvSpPr>
        <p:spPr>
          <a:xfrm rot="5400000">
            <a:off x="3420261" y="1802485"/>
            <a:ext cx="884110" cy="124825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868EA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901;p26">
            <a:extLst>
              <a:ext uri="{FF2B5EF4-FFF2-40B4-BE49-F238E27FC236}">
                <a16:creationId xmlns:a16="http://schemas.microsoft.com/office/drawing/2014/main" id="{33314D2C-EF06-A046-4DA4-52666CD67070}"/>
              </a:ext>
            </a:extLst>
          </p:cNvPr>
          <p:cNvSpPr/>
          <p:nvPr/>
        </p:nvSpPr>
        <p:spPr>
          <a:xfrm rot="5400000">
            <a:off x="5108943" y="2002307"/>
            <a:ext cx="316370" cy="322421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DDB5F5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" name="Google Shape;901;p26">
            <a:extLst>
              <a:ext uri="{FF2B5EF4-FFF2-40B4-BE49-F238E27FC236}">
                <a16:creationId xmlns:a16="http://schemas.microsoft.com/office/drawing/2014/main" id="{8CFCA6B0-4C34-3EB3-4378-5591D5A5D471}"/>
              </a:ext>
            </a:extLst>
          </p:cNvPr>
          <p:cNvSpPr/>
          <p:nvPr/>
        </p:nvSpPr>
        <p:spPr>
          <a:xfrm rot="5400000">
            <a:off x="5073547" y="2746220"/>
            <a:ext cx="317222" cy="370323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B868EA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900;p26">
            <a:extLst>
              <a:ext uri="{FF2B5EF4-FFF2-40B4-BE49-F238E27FC236}">
                <a16:creationId xmlns:a16="http://schemas.microsoft.com/office/drawing/2014/main" id="{AD948F34-8F13-58E5-CCFF-E74A08D7F4E9}"/>
              </a:ext>
            </a:extLst>
          </p:cNvPr>
          <p:cNvSpPr/>
          <p:nvPr/>
        </p:nvSpPr>
        <p:spPr>
          <a:xfrm rot="5400000">
            <a:off x="5093932" y="3480536"/>
            <a:ext cx="303942" cy="397815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8959CF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901;p26">
            <a:extLst>
              <a:ext uri="{FF2B5EF4-FFF2-40B4-BE49-F238E27FC236}">
                <a16:creationId xmlns:a16="http://schemas.microsoft.com/office/drawing/2014/main" id="{0D61692E-898B-57E5-CE27-A9545BD34143}"/>
              </a:ext>
            </a:extLst>
          </p:cNvPr>
          <p:cNvSpPr/>
          <p:nvPr/>
        </p:nvSpPr>
        <p:spPr>
          <a:xfrm rot="5400000">
            <a:off x="5064968" y="4312985"/>
            <a:ext cx="334379" cy="397816"/>
          </a:xfrm>
          <a:prstGeom prst="hexagon">
            <a:avLst>
              <a:gd name="adj" fmla="val 25000"/>
              <a:gd name="vf" fmla="val 115470"/>
            </a:avLst>
          </a:prstGeom>
          <a:solidFill>
            <a:srgbClr val="4B2682"/>
          </a:solidFill>
          <a:ln w="19050" cap="flat" cmpd="sng">
            <a:solidFill>
              <a:schemeClr val="bg1">
                <a:lumMod val="10000"/>
                <a:lumOff val="9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891;p26">
            <a:extLst>
              <a:ext uri="{FF2B5EF4-FFF2-40B4-BE49-F238E27FC236}">
                <a16:creationId xmlns:a16="http://schemas.microsoft.com/office/drawing/2014/main" id="{BA01E796-9217-6AE2-9DF9-6E9684D95255}"/>
              </a:ext>
            </a:extLst>
          </p:cNvPr>
          <p:cNvSpPr txBox="1"/>
          <p:nvPr/>
        </p:nvSpPr>
        <p:spPr>
          <a:xfrm>
            <a:off x="1242385" y="2142210"/>
            <a:ext cx="1301124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Buda Raul-David</a:t>
            </a:r>
            <a:endParaRPr sz="1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891;p26">
            <a:extLst>
              <a:ext uri="{FF2B5EF4-FFF2-40B4-BE49-F238E27FC236}">
                <a16:creationId xmlns:a16="http://schemas.microsoft.com/office/drawing/2014/main" id="{78A74ABB-A90B-6018-1065-A66732CB985C}"/>
              </a:ext>
            </a:extLst>
          </p:cNvPr>
          <p:cNvSpPr txBox="1"/>
          <p:nvPr/>
        </p:nvSpPr>
        <p:spPr>
          <a:xfrm>
            <a:off x="3105189" y="2179009"/>
            <a:ext cx="1563415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Ciorba Andrei-Mihai</a:t>
            </a:r>
            <a:endParaRPr sz="1200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" name="Google Shape;891;p26">
            <a:extLst>
              <a:ext uri="{FF2B5EF4-FFF2-40B4-BE49-F238E27FC236}">
                <a16:creationId xmlns:a16="http://schemas.microsoft.com/office/drawing/2014/main" id="{4659D0C6-7A39-70DE-110F-416FA31F07B1}"/>
              </a:ext>
            </a:extLst>
          </p:cNvPr>
          <p:cNvSpPr txBox="1"/>
          <p:nvPr/>
        </p:nvSpPr>
        <p:spPr>
          <a:xfrm>
            <a:off x="1242385" y="3599047"/>
            <a:ext cx="1563415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bg1">
                    <a:lumMod val="25000"/>
                    <a:lumOff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Com</a:t>
            </a:r>
            <a:r>
              <a:rPr lang="en-US" sz="1200" dirty="0" err="1">
                <a:solidFill>
                  <a:schemeClr val="bg1">
                    <a:lumMod val="25000"/>
                    <a:lumOff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șa</a:t>
            </a:r>
            <a:r>
              <a:rPr lang="en-US" sz="1200" dirty="0">
                <a:solidFill>
                  <a:schemeClr val="bg1">
                    <a:lumMod val="25000"/>
                    <a:lumOff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 Rebeca</a:t>
            </a:r>
            <a:endParaRPr sz="1200" dirty="0">
              <a:solidFill>
                <a:schemeClr val="bg1">
                  <a:lumMod val="25000"/>
                  <a:lumOff val="75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" name="Google Shape;891;p26">
            <a:extLst>
              <a:ext uri="{FF2B5EF4-FFF2-40B4-BE49-F238E27FC236}">
                <a16:creationId xmlns:a16="http://schemas.microsoft.com/office/drawing/2014/main" id="{2B63BABD-61AA-90C1-C0DD-44BD4F2062E4}"/>
              </a:ext>
            </a:extLst>
          </p:cNvPr>
          <p:cNvSpPr txBox="1"/>
          <p:nvPr/>
        </p:nvSpPr>
        <p:spPr>
          <a:xfrm>
            <a:off x="3197373" y="3623798"/>
            <a:ext cx="1563415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>
                    <a:lumMod val="25000"/>
                    <a:lumOff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Florescu-Botos Victoria</a:t>
            </a:r>
            <a:endParaRPr sz="1200" dirty="0">
              <a:solidFill>
                <a:schemeClr val="bg1">
                  <a:lumMod val="25000"/>
                  <a:lumOff val="75000"/>
                </a:schemeClr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892;p26">
            <a:extLst>
              <a:ext uri="{FF2B5EF4-FFF2-40B4-BE49-F238E27FC236}">
                <a16:creationId xmlns:a16="http://schemas.microsoft.com/office/drawing/2014/main" id="{F6A0833C-A3FC-CA1B-2F66-8A439E240C0B}"/>
              </a:ext>
            </a:extLst>
          </p:cNvPr>
          <p:cNvSpPr txBox="1"/>
          <p:nvPr/>
        </p:nvSpPr>
        <p:spPr>
          <a:xfrm>
            <a:off x="5737708" y="2891100"/>
            <a:ext cx="31680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-responsabil cod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-programare backend</a:t>
            </a:r>
          </a:p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-editare interfata</a:t>
            </a:r>
            <a:endParaRPr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8" name="Google Shape;895;p26">
            <a:extLst>
              <a:ext uri="{FF2B5EF4-FFF2-40B4-BE49-F238E27FC236}">
                <a16:creationId xmlns:a16="http://schemas.microsoft.com/office/drawing/2014/main" id="{2CE3425D-089C-C298-3560-0E45EB92D9CC}"/>
              </a:ext>
            </a:extLst>
          </p:cNvPr>
          <p:cNvSpPr txBox="1"/>
          <p:nvPr/>
        </p:nvSpPr>
        <p:spPr>
          <a:xfrm>
            <a:off x="5805967" y="4446360"/>
            <a:ext cx="352996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-prezentator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-editare speech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-research</a:t>
            </a:r>
            <a:endParaRPr dirty="0">
              <a:solidFill>
                <a:schemeClr val="dk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9" name="Acoladă stânga 18">
            <a:extLst>
              <a:ext uri="{FF2B5EF4-FFF2-40B4-BE49-F238E27FC236}">
                <a16:creationId xmlns:a16="http://schemas.microsoft.com/office/drawing/2014/main" id="{16B2FB8F-31F6-8AC9-7B88-83A0F45860E2}"/>
              </a:ext>
            </a:extLst>
          </p:cNvPr>
          <p:cNvSpPr/>
          <p:nvPr/>
        </p:nvSpPr>
        <p:spPr>
          <a:xfrm>
            <a:off x="5510085" y="1740265"/>
            <a:ext cx="295882" cy="707400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1" name="Acoladă stânga 20">
            <a:extLst>
              <a:ext uri="{FF2B5EF4-FFF2-40B4-BE49-F238E27FC236}">
                <a16:creationId xmlns:a16="http://schemas.microsoft.com/office/drawing/2014/main" id="{ACBF537F-440B-2BDA-CE47-1010CBAD4EE0}"/>
              </a:ext>
            </a:extLst>
          </p:cNvPr>
          <p:cNvSpPr/>
          <p:nvPr/>
        </p:nvSpPr>
        <p:spPr>
          <a:xfrm>
            <a:off x="5481224" y="2631103"/>
            <a:ext cx="295882" cy="661452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2" name="Acoladă stânga 21">
            <a:extLst>
              <a:ext uri="{FF2B5EF4-FFF2-40B4-BE49-F238E27FC236}">
                <a16:creationId xmlns:a16="http://schemas.microsoft.com/office/drawing/2014/main" id="{7999A5EC-90C0-BF75-84FD-1787ACF03B9D}"/>
              </a:ext>
            </a:extLst>
          </p:cNvPr>
          <p:cNvSpPr/>
          <p:nvPr/>
        </p:nvSpPr>
        <p:spPr>
          <a:xfrm>
            <a:off x="5510085" y="3322630"/>
            <a:ext cx="295882" cy="713627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4" name="Acoladă stânga 23">
            <a:extLst>
              <a:ext uri="{FF2B5EF4-FFF2-40B4-BE49-F238E27FC236}">
                <a16:creationId xmlns:a16="http://schemas.microsoft.com/office/drawing/2014/main" id="{B36ABDBF-A0C5-109A-830C-3C7970C434F9}"/>
              </a:ext>
            </a:extLst>
          </p:cNvPr>
          <p:cNvSpPr/>
          <p:nvPr/>
        </p:nvSpPr>
        <p:spPr>
          <a:xfrm>
            <a:off x="5545128" y="4147747"/>
            <a:ext cx="295882" cy="713627"/>
          </a:xfrm>
          <a:prstGeom prst="leftBrac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25" name="Google Shape;888;p26">
            <a:extLst>
              <a:ext uri="{FF2B5EF4-FFF2-40B4-BE49-F238E27FC236}">
                <a16:creationId xmlns:a16="http://schemas.microsoft.com/office/drawing/2014/main" id="{35E0BBC9-73F6-B6B9-1174-008AFB64B4AB}"/>
              </a:ext>
            </a:extLst>
          </p:cNvPr>
          <p:cNvSpPr txBox="1"/>
          <p:nvPr/>
        </p:nvSpPr>
        <p:spPr>
          <a:xfrm>
            <a:off x="2018879" y="1445051"/>
            <a:ext cx="1975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dk1"/>
                </a:solidFill>
                <a:latin typeface="Montserrat Black" panose="00000A00000000000000" pitchFamily="2" charset="0"/>
                <a:ea typeface="Montserrat"/>
                <a:cs typeface="Montserrat"/>
                <a:sym typeface="Montserrat"/>
              </a:rPr>
              <a:t>Membrii:</a:t>
            </a:r>
            <a:endParaRPr sz="1800" dirty="0">
              <a:solidFill>
                <a:schemeClr val="dk1"/>
              </a:solidFill>
              <a:latin typeface="Montserrat Black" panose="00000A00000000000000" pitchFamily="2" charset="0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4BEB57D-C4EB-EAA4-76B8-5C8893D1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5876" y="1589170"/>
            <a:ext cx="5195771" cy="1965160"/>
          </a:xfrm>
        </p:spPr>
        <p:txBody>
          <a:bodyPr/>
          <a:lstStyle/>
          <a:p>
            <a:r>
              <a:rPr lang="en-US" sz="3600" dirty="0" err="1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Multumim</a:t>
            </a:r>
            <a:r>
              <a:rPr lang="en-US" sz="3600" dirty="0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 </a:t>
            </a:r>
            <a:r>
              <a:rPr lang="en-US" sz="3600" dirty="0" err="1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pentru</a:t>
            </a:r>
            <a:r>
              <a:rPr lang="en-US" sz="3600" dirty="0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 </a:t>
            </a:r>
            <a:r>
              <a:rPr lang="en-US" sz="3600" dirty="0" err="1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atentie</a:t>
            </a:r>
            <a:r>
              <a:rPr lang="en-US" sz="3600" dirty="0">
                <a:ln>
                  <a:solidFill>
                    <a:schemeClr val="bg1">
                      <a:lumMod val="25000"/>
                      <a:lumOff val="75000"/>
                      <a:alpha val="20000"/>
                    </a:schemeClr>
                  </a:solidFill>
                </a:ln>
                <a:solidFill>
                  <a:srgbClr val="B868EA"/>
                </a:solidFill>
                <a:effectLst>
                  <a:glow rad="838200">
                    <a:schemeClr val="bg1">
                      <a:lumMod val="50000"/>
                      <a:lumOff val="50000"/>
                      <a:alpha val="40000"/>
                    </a:schemeClr>
                  </a:glow>
                </a:effectLst>
              </a:rPr>
              <a:t>!</a:t>
            </a:r>
            <a:endParaRPr lang="ro-RO" sz="3600" dirty="0">
              <a:ln>
                <a:solidFill>
                  <a:schemeClr val="bg1">
                    <a:lumMod val="25000"/>
                    <a:lumOff val="75000"/>
                    <a:alpha val="20000"/>
                  </a:schemeClr>
                </a:solidFill>
              </a:ln>
              <a:solidFill>
                <a:srgbClr val="B868EA"/>
              </a:solidFill>
              <a:effectLst>
                <a:glow rad="838200">
                  <a:schemeClr val="bg1">
                    <a:lumMod val="50000"/>
                    <a:lumOff val="50000"/>
                    <a:alpha val="40000"/>
                  </a:schemeClr>
                </a:glow>
              </a:effectLst>
            </a:endParaRPr>
          </a:p>
        </p:txBody>
      </p:sp>
      <p:pic>
        <p:nvPicPr>
          <p:cNvPr id="4" name="Imagine 3">
            <a:extLst>
              <a:ext uri="{FF2B5EF4-FFF2-40B4-BE49-F238E27FC236}">
                <a16:creationId xmlns:a16="http://schemas.microsoft.com/office/drawing/2014/main" id="{27C00499-9358-0E10-8E14-642E86094C6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rcRect l="24679" t="18543" r="25300" b="17092"/>
          <a:stretch>
            <a:fillRect/>
          </a:stretch>
        </p:blipFill>
        <p:spPr>
          <a:xfrm>
            <a:off x="723569" y="1330592"/>
            <a:ext cx="1630018" cy="2060143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3B0576F2-751F-77E1-E830-D3AB55D867A8}"/>
              </a:ext>
            </a:extLst>
          </p:cNvPr>
          <p:cNvSpPr txBox="1"/>
          <p:nvPr/>
        </p:nvSpPr>
        <p:spPr>
          <a:xfrm>
            <a:off x="3025876" y="4071262"/>
            <a:ext cx="4572000" cy="586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buNone/>
            </a:pPr>
            <a:r>
              <a:rPr lang="ro-RO" sz="1800" b="1" i="0" dirty="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Montserrat Black" panose="00000A00000000000000" pitchFamily="2" charset="0"/>
              </a:rPr>
              <a:t>Contact</a:t>
            </a:r>
            <a:r>
              <a:rPr lang="en-US" sz="1800" b="1" i="0" dirty="0">
                <a:solidFill>
                  <a:schemeClr val="bg1">
                    <a:lumMod val="50000"/>
                    <a:lumOff val="50000"/>
                  </a:schemeClr>
                </a:solidFill>
                <a:effectLst/>
                <a:latin typeface="Montserrat Black" panose="00000A00000000000000" pitchFamily="2" charset="0"/>
              </a:rPr>
              <a:t>:</a:t>
            </a:r>
            <a:endParaRPr lang="en-US" sz="1800" b="1" dirty="0">
              <a:solidFill>
                <a:schemeClr val="bg1">
                  <a:lumMod val="50000"/>
                  <a:lumOff val="50000"/>
                </a:schemeClr>
              </a:solidFill>
              <a:latin typeface="Montserrat Black" panose="00000A00000000000000" pitchFamily="2" charset="0"/>
            </a:endParaRPr>
          </a:p>
          <a:p>
            <a:pPr algn="ctr">
              <a:lnSpc>
                <a:spcPts val="80"/>
              </a:lnSpc>
              <a:spcAft>
                <a:spcPts val="1200"/>
              </a:spcAft>
              <a:buNone/>
            </a:pPr>
            <a:r>
              <a:rPr lang="ro-RO" sz="1600" b="0" i="0" dirty="0">
                <a:solidFill>
                  <a:schemeClr val="bg1">
                    <a:lumMod val="25000"/>
                    <a:lumOff val="75000"/>
                  </a:schemeClr>
                </a:solidFill>
                <a:effectLst/>
                <a:latin typeface="-apple-system"/>
              </a:rPr>
              <a:t>support@safey.com</a:t>
            </a:r>
          </a:p>
        </p:txBody>
      </p:sp>
    </p:spTree>
    <p:extLst>
      <p:ext uri="{BB962C8B-B14F-4D97-AF65-F5344CB8AC3E}">
        <p14:creationId xmlns:p14="http://schemas.microsoft.com/office/powerpoint/2010/main" val="1907218366"/>
      </p:ext>
    </p:extLst>
  </p:cSld>
  <p:clrMapOvr>
    <a:masterClrMapping/>
  </p:clrMapOvr>
</p:sld>
</file>

<file path=ppt/theme/theme1.xml><?xml version="1.0" encoding="utf-8"?>
<a:theme xmlns:a="http://schemas.openxmlformats.org/drawingml/2006/main" name="Artificial Intelligence (AI) Technology Project Proposal Infographics by Slidesgo">
  <a:themeElements>
    <a:clrScheme name="Simple Light">
      <a:dk1>
        <a:srgbClr val="FFFFFF"/>
      </a:dk1>
      <a:lt1>
        <a:srgbClr val="27173A"/>
      </a:lt1>
      <a:dk2>
        <a:srgbClr val="AE77D6"/>
      </a:dk2>
      <a:lt2>
        <a:srgbClr val="5A1387"/>
      </a:lt2>
      <a:accent1>
        <a:srgbClr val="76F3FB"/>
      </a:accent1>
      <a:accent2>
        <a:srgbClr val="729BC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278</Words>
  <Application>Microsoft Office PowerPoint</Application>
  <PresentationFormat>Expunere pe ecran (16:9)</PresentationFormat>
  <Paragraphs>110</Paragraphs>
  <Slides>11</Slides>
  <Notes>10</Notes>
  <HiddenSlides>0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11</vt:i4>
      </vt:variant>
    </vt:vector>
  </HeadingPairs>
  <TitlesOfParts>
    <vt:vector size="19" baseType="lpstr">
      <vt:lpstr>Montserrat Black</vt:lpstr>
      <vt:lpstr>Bebas Neue</vt:lpstr>
      <vt:lpstr>-apple-system</vt:lpstr>
      <vt:lpstr>Montserrat</vt:lpstr>
      <vt:lpstr>Arial</vt:lpstr>
      <vt:lpstr>Nunito Light</vt:lpstr>
      <vt:lpstr>Montserrat Medium</vt:lpstr>
      <vt:lpstr>Artificial Intelligence (AI) Technology Project Proposal Infographics by Slidesgo</vt:lpstr>
      <vt:lpstr>Safey  SOLUȚIE DE SECURITATE CIBERNETICĂ EMAIL B2B</vt:lpstr>
      <vt:lpstr>Probleme</vt:lpstr>
      <vt:lpstr>Solutii</vt:lpstr>
      <vt:lpstr>Produs</vt:lpstr>
      <vt:lpstr>Market</vt:lpstr>
      <vt:lpstr>Business Model </vt:lpstr>
      <vt:lpstr>Competiție</vt:lpstr>
      <vt:lpstr>Validare</vt:lpstr>
      <vt:lpstr>Goto market</vt:lpstr>
      <vt:lpstr>Echipa: M_Power</vt:lpstr>
      <vt:lpstr>Multumim pentru atentie!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Rebi Comsa ^_^</dc:creator>
  <cp:lastModifiedBy>Rebeca Comsa</cp:lastModifiedBy>
  <cp:revision>4</cp:revision>
  <dcterms:modified xsi:type="dcterms:W3CDTF">2025-12-07T13:30:45Z</dcterms:modified>
</cp:coreProperties>
</file>